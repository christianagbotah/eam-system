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286000"/>
            <a:ext cx="73152" cy="22860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103120"/>
            <a:ext cx="9144000" cy="457200"/>
          </a:xfrm>
          <a:prstGeom prst="rect">
            <a:avLst/>
          </a:prstGeom>
          <a:noFill/>
        </p:spPr>
        <p:txBody>
          <a:bodyPr wrap="square">
            <a:spAutoFit/>
          </a:bodyPr>
          <a:lstStyle/>
          <a:p>
            <a:pPr algn="l">
              <a:defRPr sz="1600" b="1">
                <a:solidFill>
                  <a:srgbClr val="059669"/>
                </a:solidFill>
                <a:latin typeface="Calibri"/>
              </a:defRPr>
            </a:pPr>
            <a:r>
              <a:t>iAssetsPro</a:t>
            </a:r>
          </a:p>
        </p:txBody>
      </p:sp>
      <p:sp>
        <p:nvSpPr>
          <p:cNvPr id="5" name="TextBox 4"/>
          <p:cNvSpPr txBox="1"/>
          <p:nvPr/>
        </p:nvSpPr>
        <p:spPr>
          <a:xfrm>
            <a:off x="1097280" y="2468880"/>
            <a:ext cx="9144000" cy="365760"/>
          </a:xfrm>
          <a:prstGeom prst="rect">
            <a:avLst/>
          </a:prstGeom>
          <a:noFill/>
        </p:spPr>
        <p:txBody>
          <a:bodyPr wrap="square">
            <a:spAutoFit/>
          </a:bodyPr>
          <a:lstStyle/>
          <a:p>
            <a:pPr algn="l">
              <a:defRPr sz="1200" b="0">
                <a:solidFill>
                  <a:srgbClr val="94A3B8"/>
                </a:solidFill>
                <a:latin typeface="Calibri"/>
              </a:defRPr>
            </a:pPr>
            <a:r>
              <a:t>Enterprise Asset Management Platform</a:t>
            </a:r>
          </a:p>
        </p:txBody>
      </p:sp>
      <p:sp>
        <p:nvSpPr>
          <p:cNvPr id="6" name="TextBox 5"/>
          <p:cNvSpPr txBox="1"/>
          <p:nvPr/>
        </p:nvSpPr>
        <p:spPr>
          <a:xfrm>
            <a:off x="1097280" y="3017520"/>
            <a:ext cx="9144000" cy="1371600"/>
          </a:xfrm>
          <a:prstGeom prst="rect">
            <a:avLst/>
          </a:prstGeom>
          <a:noFill/>
        </p:spPr>
        <p:txBody>
          <a:bodyPr wrap="square">
            <a:spAutoFit/>
          </a:bodyPr>
          <a:lstStyle/>
          <a:p>
            <a:pPr algn="l">
              <a:defRPr sz="4000" b="1">
                <a:solidFill>
                  <a:srgbClr val="FFFFFF"/>
                </a:solidFill>
                <a:latin typeface="Calibri"/>
              </a:defRPr>
            </a:pPr>
            <a:r>
              <a:t>Maintenance Repairs</a:t>
            </a:r>
            <a:br/>
            <a:r>
              <a:t>Work Order Module</a:t>
            </a:r>
          </a:p>
        </p:txBody>
      </p:sp>
      <p:sp>
        <p:nvSpPr>
          <p:cNvPr id="7" name="TextBox 6"/>
          <p:cNvSpPr txBox="1"/>
          <p:nvPr/>
        </p:nvSpPr>
        <p:spPr>
          <a:xfrm>
            <a:off x="1097280" y="4572000"/>
            <a:ext cx="9144000" cy="731520"/>
          </a:xfrm>
          <a:prstGeom prst="rect">
            <a:avLst/>
          </a:prstGeom>
          <a:noFill/>
        </p:spPr>
        <p:txBody>
          <a:bodyPr wrap="square">
            <a:spAutoFit/>
          </a:bodyPr>
          <a:lstStyle/>
          <a:p>
            <a:pPr algn="l">
              <a:defRPr sz="1800" b="0">
                <a:solidFill>
                  <a:srgbClr val="F5A623"/>
                </a:solidFill>
                <a:latin typeface="Calibri"/>
              </a:defRPr>
            </a:pPr>
            <a:r>
              <a:t>Complete Workflow Presentation — From Request to Closure</a:t>
            </a:r>
          </a:p>
        </p:txBody>
      </p:sp>
      <p:sp>
        <p:nvSpPr>
          <p:cNvPr id="8" name="Rectangle 7"/>
          <p:cNvSpPr/>
          <p:nvPr/>
        </p:nvSpPr>
        <p:spPr>
          <a:xfrm>
            <a:off x="0" y="6400800"/>
            <a:ext cx="12191695" cy="457200"/>
          </a:xfrm>
          <a:prstGeom prst="rect">
            <a:avLst/>
          </a:prstGeom>
          <a:solidFill>
            <a:srgbClr val="0A0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6446520"/>
            <a:ext cx="4572000" cy="274320"/>
          </a:xfrm>
          <a:prstGeom prst="rect">
            <a:avLst/>
          </a:prstGeom>
          <a:noFill/>
        </p:spPr>
        <p:txBody>
          <a:bodyPr wrap="square">
            <a:spAutoFit/>
          </a:bodyPr>
          <a:lstStyle/>
          <a:p>
            <a:pPr algn="l">
              <a:defRPr sz="1000" b="0">
                <a:solidFill>
                  <a:srgbClr val="94A3B8"/>
                </a:solidFill>
                <a:latin typeface="Calibri"/>
              </a:defRPr>
            </a:pPr>
            <a:r>
              <a:t>Prepared for Client Presentation</a:t>
            </a:r>
          </a:p>
        </p:txBody>
      </p:sp>
      <p:sp>
        <p:nvSpPr>
          <p:cNvPr id="10" name="TextBox 9"/>
          <p:cNvSpPr txBox="1"/>
          <p:nvPr/>
        </p:nvSpPr>
        <p:spPr>
          <a:xfrm>
            <a:off x="8229600" y="6446520"/>
            <a:ext cx="3200400" cy="274320"/>
          </a:xfrm>
          <a:prstGeom prst="rect">
            <a:avLst/>
          </a:prstGeom>
          <a:noFill/>
        </p:spPr>
        <p:txBody>
          <a:bodyPr wrap="square">
            <a:spAutoFit/>
          </a:bodyPr>
          <a:lstStyle/>
          <a:p>
            <a:pPr algn="r">
              <a:defRPr sz="1000" b="0">
                <a:solidFill>
                  <a:srgbClr val="94A3B8"/>
                </a:solidFill>
                <a:latin typeface="Calibri"/>
              </a:defRPr>
            </a:pPr>
            <a:r>
              <a:t>Lightworld Technologies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457200"/>
          </a:xfrm>
          <a:prstGeom prst="rect">
            <a:avLst/>
          </a:prstGeom>
          <a:noFill/>
        </p:spPr>
        <p:txBody>
          <a:bodyPr wrap="square">
            <a:spAutoFit/>
          </a:bodyPr>
          <a:lstStyle/>
          <a:p>
            <a:pPr algn="l">
              <a:defRPr sz="1000" b="1">
                <a:solidFill>
                  <a:srgbClr val="059669"/>
                </a:solidFill>
                <a:latin typeface="Calibri"/>
              </a:defRPr>
            </a:pPr>
            <a:r>
              <a:t>WORKFLOW OVERVIEW</a:t>
            </a:r>
          </a:p>
        </p:txBody>
      </p:sp>
      <p:sp>
        <p:nvSpPr>
          <p:cNvPr id="4" name="TextBox 3"/>
          <p:cNvSpPr txBox="1"/>
          <p:nvPr/>
        </p:nvSpPr>
        <p:spPr>
          <a:xfrm>
            <a:off x="548640" y="640080"/>
            <a:ext cx="10972800" cy="548640"/>
          </a:xfrm>
          <a:prstGeom prst="rect">
            <a:avLst/>
          </a:prstGeom>
          <a:noFill/>
        </p:spPr>
        <p:txBody>
          <a:bodyPr wrap="square">
            <a:spAutoFit/>
          </a:bodyPr>
          <a:lstStyle/>
          <a:p>
            <a:pPr algn="l">
              <a:defRPr sz="2800" b="1">
                <a:solidFill>
                  <a:srgbClr val="1E293B"/>
                </a:solidFill>
                <a:latin typeface="Calibri"/>
              </a:defRPr>
            </a:pPr>
            <a:r>
              <a:t>End-to-End Maintenance Repair Process</a:t>
            </a:r>
          </a:p>
        </p:txBody>
      </p:sp>
      <p:sp>
        <p:nvSpPr>
          <p:cNvPr id="5" name="Rectangle 4"/>
          <p:cNvSpPr/>
          <p:nvPr/>
        </p:nvSpPr>
        <p:spPr>
          <a:xfrm>
            <a:off x="548640" y="1463040"/>
            <a:ext cx="2560320" cy="4114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63040"/>
            <a:ext cx="2560320" cy="7315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37360"/>
            <a:ext cx="2194560" cy="274320"/>
          </a:xfrm>
          <a:prstGeom prst="rect">
            <a:avLst/>
          </a:prstGeom>
          <a:noFill/>
        </p:spPr>
        <p:txBody>
          <a:bodyPr wrap="square">
            <a:spAutoFit/>
          </a:bodyPr>
          <a:lstStyle/>
          <a:p>
            <a:pPr algn="l">
              <a:defRPr sz="1100" b="1">
                <a:solidFill>
                  <a:srgbClr val="059669"/>
                </a:solidFill>
                <a:latin typeface="Calibri"/>
              </a:defRPr>
            </a:pPr>
            <a:r>
              <a:t>Phase 1</a:t>
            </a:r>
          </a:p>
        </p:txBody>
      </p:sp>
      <p:sp>
        <p:nvSpPr>
          <p:cNvPr id="8" name="TextBox 7"/>
          <p:cNvSpPr txBox="1"/>
          <p:nvPr/>
        </p:nvSpPr>
        <p:spPr>
          <a:xfrm>
            <a:off x="731520" y="2103120"/>
            <a:ext cx="2194560" cy="457200"/>
          </a:xfrm>
          <a:prstGeom prst="rect">
            <a:avLst/>
          </a:prstGeom>
          <a:noFill/>
        </p:spPr>
        <p:txBody>
          <a:bodyPr wrap="square">
            <a:spAutoFit/>
          </a:bodyPr>
          <a:lstStyle/>
          <a:p>
            <a:pPr algn="l">
              <a:defRPr sz="1800" b="1">
                <a:solidFill>
                  <a:srgbClr val="1E293B"/>
                </a:solidFill>
                <a:latin typeface="Calibri"/>
              </a:defRPr>
            </a:pPr>
            <a:r>
              <a:t>Request &amp; Approval</a:t>
            </a:r>
          </a:p>
        </p:txBody>
      </p:sp>
      <p:sp>
        <p:nvSpPr>
          <p:cNvPr id="9" name="TextBox 8"/>
          <p:cNvSpPr txBox="1"/>
          <p:nvPr/>
        </p:nvSpPr>
        <p:spPr>
          <a:xfrm>
            <a:off x="731520" y="2743200"/>
            <a:ext cx="2194560" cy="2743200"/>
          </a:xfrm>
          <a:prstGeom prst="rect">
            <a:avLst/>
          </a:prstGeom>
          <a:noFill/>
        </p:spPr>
        <p:txBody>
          <a:bodyPr wrap="square">
            <a:spAutoFit/>
          </a:bodyPr>
          <a:lstStyle/>
          <a:p>
            <a:pPr algn="l">
              <a:defRPr sz="1200" b="0">
                <a:solidFill>
                  <a:srgbClr val="64748B"/>
                </a:solidFill>
                <a:latin typeface="Calibri"/>
              </a:defRPr>
            </a:pPr>
            <a:r>
              <a:t>• Operator submits Maintenance Request</a:t>
            </a:r>
            <a:br/>
            <a:r>
              <a:t>• Supervisor reviews &amp; approves</a:t>
            </a:r>
            <a:br/>
            <a:r>
              <a:t>• Request tracked in real-time</a:t>
            </a:r>
          </a:p>
        </p:txBody>
      </p:sp>
      <p:sp>
        <p:nvSpPr>
          <p:cNvPr id="10" name="Rectangle 9"/>
          <p:cNvSpPr/>
          <p:nvPr/>
        </p:nvSpPr>
        <p:spPr>
          <a:xfrm>
            <a:off x="3383280" y="1463040"/>
            <a:ext cx="2560320" cy="4114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83280" y="1463040"/>
            <a:ext cx="2560320"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1737360"/>
            <a:ext cx="2194560" cy="274320"/>
          </a:xfrm>
          <a:prstGeom prst="rect">
            <a:avLst/>
          </a:prstGeom>
          <a:noFill/>
        </p:spPr>
        <p:txBody>
          <a:bodyPr wrap="square">
            <a:spAutoFit/>
          </a:bodyPr>
          <a:lstStyle/>
          <a:p>
            <a:pPr algn="l">
              <a:defRPr sz="1100" b="1">
                <a:solidFill>
                  <a:srgbClr val="0D9488"/>
                </a:solidFill>
                <a:latin typeface="Calibri"/>
              </a:defRPr>
            </a:pPr>
            <a:r>
              <a:t>Phase 2</a:t>
            </a:r>
          </a:p>
        </p:txBody>
      </p:sp>
      <p:sp>
        <p:nvSpPr>
          <p:cNvPr id="13" name="TextBox 12"/>
          <p:cNvSpPr txBox="1"/>
          <p:nvPr/>
        </p:nvSpPr>
        <p:spPr>
          <a:xfrm>
            <a:off x="3566160" y="2103120"/>
            <a:ext cx="2194560" cy="457200"/>
          </a:xfrm>
          <a:prstGeom prst="rect">
            <a:avLst/>
          </a:prstGeom>
          <a:noFill/>
        </p:spPr>
        <p:txBody>
          <a:bodyPr wrap="square">
            <a:spAutoFit/>
          </a:bodyPr>
          <a:lstStyle/>
          <a:p>
            <a:pPr algn="l">
              <a:defRPr sz="1800" b="1">
                <a:solidFill>
                  <a:srgbClr val="1E293B"/>
                </a:solidFill>
                <a:latin typeface="Calibri"/>
              </a:defRPr>
            </a:pPr>
            <a:r>
              <a:t>Work Order Execution</a:t>
            </a:r>
          </a:p>
        </p:txBody>
      </p:sp>
      <p:sp>
        <p:nvSpPr>
          <p:cNvPr id="14" name="TextBox 13"/>
          <p:cNvSpPr txBox="1"/>
          <p:nvPr/>
        </p:nvSpPr>
        <p:spPr>
          <a:xfrm>
            <a:off x="3566160" y="2743200"/>
            <a:ext cx="2194560" cy="2743200"/>
          </a:xfrm>
          <a:prstGeom prst="rect">
            <a:avLst/>
          </a:prstGeom>
          <a:noFill/>
        </p:spPr>
        <p:txBody>
          <a:bodyPr wrap="square">
            <a:spAutoFit/>
          </a:bodyPr>
          <a:lstStyle/>
          <a:p>
            <a:pPr algn="l">
              <a:defRPr sz="1200" b="0">
                <a:solidFill>
                  <a:srgbClr val="64748B"/>
                </a:solidFill>
                <a:latin typeface="Calibri"/>
              </a:defRPr>
            </a:pPr>
            <a:r>
              <a:t>• Approved MR converts to Work Order</a:t>
            </a:r>
            <a:br/>
            <a:r>
              <a:t>• WO assigned to technician</a:t>
            </a:r>
            <a:br/>
            <a:r>
              <a:t>• Work started with time tracking</a:t>
            </a:r>
          </a:p>
        </p:txBody>
      </p:sp>
      <p:sp>
        <p:nvSpPr>
          <p:cNvPr id="15" name="Rectangle 14"/>
          <p:cNvSpPr/>
          <p:nvPr/>
        </p:nvSpPr>
        <p:spPr>
          <a:xfrm>
            <a:off x="6217920" y="1463040"/>
            <a:ext cx="2560320" cy="4114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1463040"/>
            <a:ext cx="256032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737360"/>
            <a:ext cx="2194560" cy="274320"/>
          </a:xfrm>
          <a:prstGeom prst="rect">
            <a:avLst/>
          </a:prstGeom>
          <a:noFill/>
        </p:spPr>
        <p:txBody>
          <a:bodyPr wrap="square">
            <a:spAutoFit/>
          </a:bodyPr>
          <a:lstStyle/>
          <a:p>
            <a:pPr algn="l">
              <a:defRPr sz="1100" b="1">
                <a:solidFill>
                  <a:srgbClr val="F59E0B"/>
                </a:solidFill>
                <a:latin typeface="Calibri"/>
              </a:defRPr>
            </a:pPr>
            <a:r>
              <a:t>Phase 3</a:t>
            </a:r>
          </a:p>
        </p:txBody>
      </p:sp>
      <p:sp>
        <p:nvSpPr>
          <p:cNvPr id="18" name="TextBox 17"/>
          <p:cNvSpPr txBox="1"/>
          <p:nvPr/>
        </p:nvSpPr>
        <p:spPr>
          <a:xfrm>
            <a:off x="6400800" y="2103120"/>
            <a:ext cx="2194560" cy="457200"/>
          </a:xfrm>
          <a:prstGeom prst="rect">
            <a:avLst/>
          </a:prstGeom>
          <a:noFill/>
        </p:spPr>
        <p:txBody>
          <a:bodyPr wrap="square">
            <a:spAutoFit/>
          </a:bodyPr>
          <a:lstStyle/>
          <a:p>
            <a:pPr algn="l">
              <a:defRPr sz="1800" b="1">
                <a:solidFill>
                  <a:srgbClr val="1E293B"/>
                </a:solidFill>
                <a:latin typeface="Calibri"/>
              </a:defRPr>
            </a:pPr>
            <a:r>
              <a:t>Repair Resources</a:t>
            </a:r>
          </a:p>
        </p:txBody>
      </p:sp>
      <p:sp>
        <p:nvSpPr>
          <p:cNvPr id="19" name="TextBox 18"/>
          <p:cNvSpPr txBox="1"/>
          <p:nvPr/>
        </p:nvSpPr>
        <p:spPr>
          <a:xfrm>
            <a:off x="6400800" y="2743200"/>
            <a:ext cx="2194560" cy="2743200"/>
          </a:xfrm>
          <a:prstGeom prst="rect">
            <a:avLst/>
          </a:prstGeom>
          <a:noFill/>
        </p:spPr>
        <p:txBody>
          <a:bodyPr wrap="square">
            <a:spAutoFit/>
          </a:bodyPr>
          <a:lstStyle/>
          <a:p>
            <a:pPr algn="l">
              <a:defRPr sz="1200" b="0">
                <a:solidFill>
                  <a:srgbClr val="64748B"/>
                </a:solidFill>
                <a:latin typeface="Calibri"/>
              </a:defRPr>
            </a:pPr>
            <a:r>
              <a:t>• Tool requests &amp; checkout</a:t>
            </a:r>
            <a:br/>
            <a:r>
              <a:t>• Material requisition &amp; issue</a:t>
            </a:r>
            <a:br/>
            <a:r>
              <a:t>• Tool returns &amp; transfers</a:t>
            </a:r>
          </a:p>
        </p:txBody>
      </p:sp>
      <p:sp>
        <p:nvSpPr>
          <p:cNvPr id="20" name="Rectangle 19"/>
          <p:cNvSpPr/>
          <p:nvPr/>
        </p:nvSpPr>
        <p:spPr>
          <a:xfrm>
            <a:off x="9052560" y="1463040"/>
            <a:ext cx="2560320" cy="4114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52560" y="1463040"/>
            <a:ext cx="2560320" cy="7315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35440" y="1737360"/>
            <a:ext cx="2194560" cy="274320"/>
          </a:xfrm>
          <a:prstGeom prst="rect">
            <a:avLst/>
          </a:prstGeom>
          <a:noFill/>
        </p:spPr>
        <p:txBody>
          <a:bodyPr wrap="square">
            <a:spAutoFit/>
          </a:bodyPr>
          <a:lstStyle/>
          <a:p>
            <a:pPr algn="l">
              <a:defRPr sz="1100" b="1">
                <a:solidFill>
                  <a:srgbClr val="6D28D9"/>
                </a:solidFill>
                <a:latin typeface="Calibri"/>
              </a:defRPr>
            </a:pPr>
            <a:r>
              <a:t>Phase 4</a:t>
            </a:r>
          </a:p>
        </p:txBody>
      </p:sp>
      <p:sp>
        <p:nvSpPr>
          <p:cNvPr id="23" name="TextBox 22"/>
          <p:cNvSpPr txBox="1"/>
          <p:nvPr/>
        </p:nvSpPr>
        <p:spPr>
          <a:xfrm>
            <a:off x="9235440" y="2103120"/>
            <a:ext cx="2194560" cy="457200"/>
          </a:xfrm>
          <a:prstGeom prst="rect">
            <a:avLst/>
          </a:prstGeom>
          <a:noFill/>
        </p:spPr>
        <p:txBody>
          <a:bodyPr wrap="square">
            <a:spAutoFit/>
          </a:bodyPr>
          <a:lstStyle/>
          <a:p>
            <a:pPr algn="l">
              <a:defRPr sz="1800" b="1">
                <a:solidFill>
                  <a:srgbClr val="1E293B"/>
                </a:solidFill>
                <a:latin typeface="Calibri"/>
              </a:defRPr>
            </a:pPr>
            <a:r>
              <a:t>Completion &amp; Reporting</a:t>
            </a:r>
          </a:p>
        </p:txBody>
      </p:sp>
      <p:sp>
        <p:nvSpPr>
          <p:cNvPr id="24" name="TextBox 23"/>
          <p:cNvSpPr txBox="1"/>
          <p:nvPr/>
        </p:nvSpPr>
        <p:spPr>
          <a:xfrm>
            <a:off x="9235440" y="2743200"/>
            <a:ext cx="2194560" cy="2743200"/>
          </a:xfrm>
          <a:prstGeom prst="rect">
            <a:avLst/>
          </a:prstGeom>
          <a:noFill/>
        </p:spPr>
        <p:txBody>
          <a:bodyPr wrap="square">
            <a:spAutoFit/>
          </a:bodyPr>
          <a:lstStyle/>
          <a:p>
            <a:pPr algn="l">
              <a:defRPr sz="1200" b="0">
                <a:solidFill>
                  <a:srgbClr val="64748B"/>
                </a:solidFill>
                <a:latin typeface="Calibri"/>
              </a:defRPr>
            </a:pPr>
            <a:r>
              <a:t>• Work completion sign-off</a:t>
            </a:r>
            <a:br/>
            <a:r>
              <a:t>• Supervisor closure &amp; lock</a:t>
            </a:r>
            <a:br/>
            <a:r>
              <a:t>• Analytics &amp; KPI reporting</a:t>
            </a:r>
          </a:p>
        </p:txBody>
      </p:sp>
      <p:sp>
        <p:nvSpPr>
          <p:cNvPr id="25" name="TextBox 24"/>
          <p:cNvSpPr txBox="1"/>
          <p:nvPr/>
        </p:nvSpPr>
        <p:spPr>
          <a:xfrm>
            <a:off x="3017520" y="3200400"/>
            <a:ext cx="365760" cy="365760"/>
          </a:xfrm>
          <a:prstGeom prst="rect">
            <a:avLst/>
          </a:prstGeom>
          <a:noFill/>
        </p:spPr>
        <p:txBody>
          <a:bodyPr wrap="square">
            <a:spAutoFit/>
          </a:bodyPr>
          <a:lstStyle/>
          <a:p>
            <a:pPr algn="ctr">
              <a:defRPr sz="2400" b="0">
                <a:solidFill>
                  <a:srgbClr val="94A3B8"/>
                </a:solidFill>
                <a:latin typeface="Calibri"/>
              </a:defRPr>
            </a:pPr>
            <a:r>
              <a:t>→</a:t>
            </a:r>
          </a:p>
        </p:txBody>
      </p:sp>
      <p:sp>
        <p:nvSpPr>
          <p:cNvPr id="26" name="TextBox 25"/>
          <p:cNvSpPr txBox="1"/>
          <p:nvPr/>
        </p:nvSpPr>
        <p:spPr>
          <a:xfrm>
            <a:off x="5852160" y="3200400"/>
            <a:ext cx="365760" cy="365760"/>
          </a:xfrm>
          <a:prstGeom prst="rect">
            <a:avLst/>
          </a:prstGeom>
          <a:noFill/>
        </p:spPr>
        <p:txBody>
          <a:bodyPr wrap="square">
            <a:spAutoFit/>
          </a:bodyPr>
          <a:lstStyle/>
          <a:p>
            <a:pPr algn="ctr">
              <a:defRPr sz="2400" b="0">
                <a:solidFill>
                  <a:srgbClr val="94A3B8"/>
                </a:solidFill>
                <a:latin typeface="Calibri"/>
              </a:defRPr>
            </a:pPr>
            <a:r>
              <a:t>→</a:t>
            </a:r>
          </a:p>
        </p:txBody>
      </p:sp>
      <p:sp>
        <p:nvSpPr>
          <p:cNvPr id="27" name="TextBox 26"/>
          <p:cNvSpPr txBox="1"/>
          <p:nvPr/>
        </p:nvSpPr>
        <p:spPr>
          <a:xfrm>
            <a:off x="8686800" y="3200400"/>
            <a:ext cx="365760" cy="365760"/>
          </a:xfrm>
          <a:prstGeom prst="rect">
            <a:avLst/>
          </a:prstGeom>
          <a:noFill/>
        </p:spPr>
        <p:txBody>
          <a:bodyPr wrap="square">
            <a:spAutoFit/>
          </a:bodyPr>
          <a:lstStyle/>
          <a:p>
            <a:pPr algn="ctr">
              <a:defRPr sz="2400" b="0">
                <a:solidFill>
                  <a:srgbClr val="94A3B8"/>
                </a:solidFill>
                <a:latin typeface="Calibri"/>
              </a:defRPr>
            </a:pPr>
            <a:r>
              <a:t>→</a:t>
            </a:r>
          </a:p>
        </p:txBody>
      </p:sp>
      <p:sp>
        <p:nvSpPr>
          <p:cNvPr id="28" name="Rectangle 27"/>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6510528"/>
            <a:ext cx="4572000" cy="274320"/>
          </a:xfrm>
          <a:prstGeom prst="rect">
            <a:avLst/>
          </a:prstGeom>
          <a:noFill/>
        </p:spPr>
        <p:txBody>
          <a:bodyPr wrap="square">
            <a:spAutoFit/>
          </a:bodyPr>
          <a:lstStyle/>
          <a:p>
            <a:pPr algn="l">
              <a:defRPr sz="900" b="0">
                <a:solidFill>
                  <a:srgbClr val="94A3B8"/>
                </a:solidFill>
                <a:latin typeface="Calibri"/>
              </a:defRPr>
            </a:pPr>
            <a:r>
              <a:t>iAssetsPro — Maintenance Repairs Work Order Module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2926080" cy="6803136"/>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365760"/>
            <a:ext cx="2377440" cy="365760"/>
          </a:xfrm>
          <a:prstGeom prst="rect">
            <a:avLst/>
          </a:prstGeom>
          <a:noFill/>
        </p:spPr>
        <p:txBody>
          <a:bodyPr wrap="square">
            <a:spAutoFit/>
          </a:bodyPr>
          <a:lstStyle/>
          <a:p>
            <a:pPr algn="l">
              <a:defRPr sz="1000" b="1">
                <a:solidFill>
                  <a:srgbClr val="059669"/>
                </a:solidFill>
                <a:latin typeface="Calibri"/>
              </a:defRPr>
            </a:pPr>
            <a:r>
              <a:t>PHASE 1 · REQUEST &amp; APPROVAL</a:t>
            </a:r>
          </a:p>
        </p:txBody>
      </p:sp>
      <p:sp>
        <p:nvSpPr>
          <p:cNvPr id="5" name="TextBox 4"/>
          <p:cNvSpPr txBox="1"/>
          <p:nvPr/>
        </p:nvSpPr>
        <p:spPr>
          <a:xfrm>
            <a:off x="274320" y="822960"/>
            <a:ext cx="2377440" cy="731520"/>
          </a:xfrm>
          <a:prstGeom prst="rect">
            <a:avLst/>
          </a:prstGeom>
          <a:noFill/>
        </p:spPr>
        <p:txBody>
          <a:bodyPr wrap="square">
            <a:spAutoFit/>
          </a:bodyPr>
          <a:lstStyle/>
          <a:p>
            <a:pPr algn="l">
              <a:defRPr sz="3600" b="1">
                <a:solidFill>
                  <a:srgbClr val="FFFFFF"/>
                </a:solidFill>
                <a:latin typeface="Calibri"/>
              </a:defRPr>
            </a:pPr>
            <a:r>
              <a:t>Step 1</a:t>
            </a:r>
          </a:p>
        </p:txBody>
      </p:sp>
      <p:sp>
        <p:nvSpPr>
          <p:cNvPr id="6" name="TextBox 5"/>
          <p:cNvSpPr txBox="1"/>
          <p:nvPr/>
        </p:nvSpPr>
        <p:spPr>
          <a:xfrm>
            <a:off x="274320" y="1554480"/>
            <a:ext cx="2377440" cy="1097280"/>
          </a:xfrm>
          <a:prstGeom prst="rect">
            <a:avLst/>
          </a:prstGeom>
          <a:noFill/>
        </p:spPr>
        <p:txBody>
          <a:bodyPr wrap="square">
            <a:spAutoFit/>
          </a:bodyPr>
          <a:lstStyle/>
          <a:p>
            <a:pPr algn="l">
              <a:defRPr sz="2000" b="1">
                <a:solidFill>
                  <a:srgbClr val="FFFFFF"/>
                </a:solidFill>
                <a:latin typeface="Calibri"/>
              </a:defRPr>
            </a:pPr>
            <a:r>
              <a:t>Login &amp; Authentication</a:t>
            </a:r>
          </a:p>
        </p:txBody>
      </p:sp>
      <p:sp>
        <p:nvSpPr>
          <p:cNvPr id="7" name="TextBox 6"/>
          <p:cNvSpPr txBox="1"/>
          <p:nvPr/>
        </p:nvSpPr>
        <p:spPr>
          <a:xfrm>
            <a:off x="274320" y="2651760"/>
            <a:ext cx="2377440" cy="3200400"/>
          </a:xfrm>
          <a:prstGeom prst="rect">
            <a:avLst/>
          </a:prstGeom>
          <a:noFill/>
        </p:spPr>
        <p:txBody>
          <a:bodyPr wrap="square">
            <a:spAutoFit/>
          </a:bodyPr>
          <a:lstStyle/>
          <a:p>
            <a:pPr algn="l">
              <a:defRPr sz="1300" b="0">
                <a:solidFill>
                  <a:srgbClr val="94A3B8"/>
                </a:solidFill>
                <a:latin typeface="Calibri"/>
              </a:defRPr>
            </a:pPr>
            <a:r>
              <a:t>Users authenticate via a secure login page with role-based access control. The system supports multiple user roles including Administrators, Supervisors, Technicians, Operators, and Store Keepers — each with specific permissions for the WO lifecycle.</a:t>
            </a:r>
          </a:p>
        </p:txBody>
      </p:sp>
      <p:sp>
        <p:nvSpPr>
          <p:cNvPr id="8" name="Oval 7"/>
          <p:cNvSpPr/>
          <p:nvPr/>
        </p:nvSpPr>
        <p:spPr>
          <a:xfrm>
            <a:off x="274320" y="6217920"/>
            <a:ext cx="109728" cy="109728"/>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7548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665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782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7899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28016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48132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68249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8366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08483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28600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48716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68833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88950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09067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29184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01-login-page.png"/>
          <p:cNvPicPr>
            <a:picLocks noChangeAspect="1"/>
          </p:cNvPicPr>
          <p:nvPr/>
        </p:nvPicPr>
        <p:blipFill>
          <a:blip r:embed="rId2"/>
          <a:stretch>
            <a:fillRect/>
          </a:stretch>
        </p:blipFill>
        <p:spPr>
          <a:xfrm>
            <a:off x="3200400" y="457200"/>
            <a:ext cx="8595360" cy="5669280"/>
          </a:xfrm>
          <a:prstGeom prst="rect">
            <a:avLst/>
          </a:prstGeom>
        </p:spPr>
      </p:pic>
      <p:sp>
        <p:nvSpPr>
          <p:cNvPr id="25" name="Rectangle 24"/>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0" y="6510528"/>
            <a:ext cx="4572000" cy="274320"/>
          </a:xfrm>
          <a:prstGeom prst="rect">
            <a:avLst/>
          </a:prstGeom>
          <a:noFill/>
        </p:spPr>
        <p:txBody>
          <a:bodyPr wrap="square">
            <a:spAutoFit/>
          </a:bodyPr>
          <a:lstStyle/>
          <a:p>
            <a:pPr algn="l">
              <a:defRPr sz="900" b="0">
                <a:solidFill>
                  <a:srgbClr val="94A3B8"/>
                </a:solidFill>
                <a:latin typeface="Calibri"/>
              </a:defRPr>
            </a:pPr>
            <a:r>
              <a:t>iAssetsPro — Maintenance Repairs Work Order Module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2926080" cy="6803136"/>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365760"/>
            <a:ext cx="2377440" cy="365760"/>
          </a:xfrm>
          <a:prstGeom prst="rect">
            <a:avLst/>
          </a:prstGeom>
          <a:noFill/>
        </p:spPr>
        <p:txBody>
          <a:bodyPr wrap="square">
            <a:spAutoFit/>
          </a:bodyPr>
          <a:lstStyle/>
          <a:p>
            <a:pPr algn="l">
              <a:defRPr sz="1000" b="1">
                <a:solidFill>
                  <a:srgbClr val="059669"/>
                </a:solidFill>
                <a:latin typeface="Calibri"/>
              </a:defRPr>
            </a:pPr>
            <a:r>
              <a:t>PHASE 1 · REQUEST &amp; APPROVAL</a:t>
            </a:r>
          </a:p>
        </p:txBody>
      </p:sp>
      <p:sp>
        <p:nvSpPr>
          <p:cNvPr id="5" name="TextBox 4"/>
          <p:cNvSpPr txBox="1"/>
          <p:nvPr/>
        </p:nvSpPr>
        <p:spPr>
          <a:xfrm>
            <a:off x="274320" y="822960"/>
            <a:ext cx="2377440" cy="731520"/>
          </a:xfrm>
          <a:prstGeom prst="rect">
            <a:avLst/>
          </a:prstGeom>
          <a:noFill/>
        </p:spPr>
        <p:txBody>
          <a:bodyPr wrap="square">
            <a:spAutoFit/>
          </a:bodyPr>
          <a:lstStyle/>
          <a:p>
            <a:pPr algn="l">
              <a:defRPr sz="3600" b="1">
                <a:solidFill>
                  <a:srgbClr val="FFFFFF"/>
                </a:solidFill>
                <a:latin typeface="Calibri"/>
              </a:defRPr>
            </a:pPr>
            <a:r>
              <a:t>Step 2</a:t>
            </a:r>
          </a:p>
        </p:txBody>
      </p:sp>
      <p:sp>
        <p:nvSpPr>
          <p:cNvPr id="6" name="TextBox 5"/>
          <p:cNvSpPr txBox="1"/>
          <p:nvPr/>
        </p:nvSpPr>
        <p:spPr>
          <a:xfrm>
            <a:off x="274320" y="1554480"/>
            <a:ext cx="2377440" cy="1097280"/>
          </a:xfrm>
          <a:prstGeom prst="rect">
            <a:avLst/>
          </a:prstGeom>
          <a:noFill/>
        </p:spPr>
        <p:txBody>
          <a:bodyPr wrap="square">
            <a:spAutoFit/>
          </a:bodyPr>
          <a:lstStyle/>
          <a:p>
            <a:pPr algn="l">
              <a:defRPr sz="2000" b="1">
                <a:solidFill>
                  <a:srgbClr val="FFFFFF"/>
                </a:solidFill>
                <a:latin typeface="Calibri"/>
              </a:defRPr>
            </a:pPr>
            <a:r>
              <a:t>Dashboard Overview</a:t>
            </a:r>
          </a:p>
        </p:txBody>
      </p:sp>
      <p:sp>
        <p:nvSpPr>
          <p:cNvPr id="7" name="TextBox 6"/>
          <p:cNvSpPr txBox="1"/>
          <p:nvPr/>
        </p:nvSpPr>
        <p:spPr>
          <a:xfrm>
            <a:off x="274320" y="2651760"/>
            <a:ext cx="2377440" cy="3200400"/>
          </a:xfrm>
          <a:prstGeom prst="rect">
            <a:avLst/>
          </a:prstGeom>
          <a:noFill/>
        </p:spPr>
        <p:txBody>
          <a:bodyPr wrap="square">
            <a:spAutoFit/>
          </a:bodyPr>
          <a:lstStyle/>
          <a:p>
            <a:pPr algn="l">
              <a:defRPr sz="1300" b="0">
                <a:solidFill>
                  <a:srgbClr val="94A3B8"/>
                </a:solidFill>
                <a:latin typeface="Calibri"/>
              </a:defRPr>
            </a:pPr>
            <a:r>
              <a:t>After login, users are presented with a comprehensive dashboard showing key metrics: pending work orders, open maintenance requests, asset health status, and recent activity. The dashboard provides quick navigation to all modules.</a:t>
            </a:r>
          </a:p>
        </p:txBody>
      </p:sp>
      <p:sp>
        <p:nvSpPr>
          <p:cNvPr id="8" name="Oval 7"/>
          <p:cNvSpPr/>
          <p:nvPr/>
        </p:nvSpPr>
        <p:spPr>
          <a:xfrm>
            <a:off x="27432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75488" y="6217920"/>
            <a:ext cx="109728" cy="109728"/>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665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782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7899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28016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48132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68249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8366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08483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28600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48716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68833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88950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09067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29184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02-dashboard.png"/>
          <p:cNvPicPr>
            <a:picLocks noChangeAspect="1"/>
          </p:cNvPicPr>
          <p:nvPr/>
        </p:nvPicPr>
        <p:blipFill>
          <a:blip r:embed="rId2"/>
          <a:stretch>
            <a:fillRect/>
          </a:stretch>
        </p:blipFill>
        <p:spPr>
          <a:xfrm>
            <a:off x="3200400" y="457200"/>
            <a:ext cx="8595360" cy="5669280"/>
          </a:xfrm>
          <a:prstGeom prst="rect">
            <a:avLst/>
          </a:prstGeom>
        </p:spPr>
      </p:pic>
      <p:sp>
        <p:nvSpPr>
          <p:cNvPr id="25" name="Rectangle 24"/>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0" y="6510528"/>
            <a:ext cx="4572000" cy="274320"/>
          </a:xfrm>
          <a:prstGeom prst="rect">
            <a:avLst/>
          </a:prstGeom>
          <a:noFill/>
        </p:spPr>
        <p:txBody>
          <a:bodyPr wrap="square">
            <a:spAutoFit/>
          </a:bodyPr>
          <a:lstStyle/>
          <a:p>
            <a:pPr algn="l">
              <a:defRPr sz="900" b="0">
                <a:solidFill>
                  <a:srgbClr val="94A3B8"/>
                </a:solidFill>
                <a:latin typeface="Calibri"/>
              </a:defRPr>
            </a:pPr>
            <a:r>
              <a:t>iAssetsPro — Maintenance Repairs Work Order Module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2926080" cy="6803136"/>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365760"/>
            <a:ext cx="2377440" cy="365760"/>
          </a:xfrm>
          <a:prstGeom prst="rect">
            <a:avLst/>
          </a:prstGeom>
          <a:noFill/>
        </p:spPr>
        <p:txBody>
          <a:bodyPr wrap="square">
            <a:spAutoFit/>
          </a:bodyPr>
          <a:lstStyle/>
          <a:p>
            <a:pPr algn="l">
              <a:defRPr sz="1000" b="1">
                <a:solidFill>
                  <a:srgbClr val="059669"/>
                </a:solidFill>
                <a:latin typeface="Calibri"/>
              </a:defRPr>
            </a:pPr>
            <a:r>
              <a:t>PHASE 1 · REQUEST &amp; APPROVAL</a:t>
            </a:r>
          </a:p>
        </p:txBody>
      </p:sp>
      <p:sp>
        <p:nvSpPr>
          <p:cNvPr id="5" name="TextBox 4"/>
          <p:cNvSpPr txBox="1"/>
          <p:nvPr/>
        </p:nvSpPr>
        <p:spPr>
          <a:xfrm>
            <a:off x="274320" y="822960"/>
            <a:ext cx="2377440" cy="731520"/>
          </a:xfrm>
          <a:prstGeom prst="rect">
            <a:avLst/>
          </a:prstGeom>
          <a:noFill/>
        </p:spPr>
        <p:txBody>
          <a:bodyPr wrap="square">
            <a:spAutoFit/>
          </a:bodyPr>
          <a:lstStyle/>
          <a:p>
            <a:pPr algn="l">
              <a:defRPr sz="3600" b="1">
                <a:solidFill>
                  <a:srgbClr val="FFFFFF"/>
                </a:solidFill>
                <a:latin typeface="Calibri"/>
              </a:defRPr>
            </a:pPr>
            <a:r>
              <a:t>Step 3</a:t>
            </a:r>
          </a:p>
        </p:txBody>
      </p:sp>
      <p:sp>
        <p:nvSpPr>
          <p:cNvPr id="6" name="TextBox 5"/>
          <p:cNvSpPr txBox="1"/>
          <p:nvPr/>
        </p:nvSpPr>
        <p:spPr>
          <a:xfrm>
            <a:off x="274320" y="1554480"/>
            <a:ext cx="2377440" cy="1097280"/>
          </a:xfrm>
          <a:prstGeom prst="rect">
            <a:avLst/>
          </a:prstGeom>
          <a:noFill/>
        </p:spPr>
        <p:txBody>
          <a:bodyPr wrap="square">
            <a:spAutoFit/>
          </a:bodyPr>
          <a:lstStyle/>
          <a:p>
            <a:pPr algn="l">
              <a:defRPr sz="2000" b="1">
                <a:solidFill>
                  <a:srgbClr val="FFFFFF"/>
                </a:solidFill>
                <a:latin typeface="Calibri"/>
              </a:defRPr>
            </a:pPr>
            <a:r>
              <a:t>Maintenance Requests List</a:t>
            </a:r>
          </a:p>
        </p:txBody>
      </p:sp>
      <p:sp>
        <p:nvSpPr>
          <p:cNvPr id="7" name="TextBox 6"/>
          <p:cNvSpPr txBox="1"/>
          <p:nvPr/>
        </p:nvSpPr>
        <p:spPr>
          <a:xfrm>
            <a:off x="274320" y="2651760"/>
            <a:ext cx="2377440" cy="3200400"/>
          </a:xfrm>
          <a:prstGeom prst="rect">
            <a:avLst/>
          </a:prstGeom>
          <a:noFill/>
        </p:spPr>
        <p:txBody>
          <a:bodyPr wrap="square">
            <a:spAutoFit/>
          </a:bodyPr>
          <a:lstStyle/>
          <a:p>
            <a:pPr algn="l">
              <a:defRPr sz="1300" b="0">
                <a:solidFill>
                  <a:srgbClr val="94A3B8"/>
                </a:solidFill>
                <a:latin typeface="Calibri"/>
              </a:defRPr>
            </a:pPr>
            <a:r>
              <a:t>The Maintenance Requests module displays all submitted requests in a filterable, sortable table. Users can filter by status (Draft, Pending, Approved, Rejected), priority, asset, and date range. The table shows request details at a glance.</a:t>
            </a:r>
          </a:p>
        </p:txBody>
      </p:sp>
      <p:sp>
        <p:nvSpPr>
          <p:cNvPr id="8" name="Oval 7"/>
          <p:cNvSpPr/>
          <p:nvPr/>
        </p:nvSpPr>
        <p:spPr>
          <a:xfrm>
            <a:off x="27432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7548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6656" y="6217920"/>
            <a:ext cx="109728" cy="109728"/>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782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7899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28016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48132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68249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8366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08483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28600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48716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68833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88950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09067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29184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03-maintenance-requests-list.png"/>
          <p:cNvPicPr>
            <a:picLocks noChangeAspect="1"/>
          </p:cNvPicPr>
          <p:nvPr/>
        </p:nvPicPr>
        <p:blipFill>
          <a:blip r:embed="rId2"/>
          <a:stretch>
            <a:fillRect/>
          </a:stretch>
        </p:blipFill>
        <p:spPr>
          <a:xfrm>
            <a:off x="3200400" y="457200"/>
            <a:ext cx="8595360" cy="5669280"/>
          </a:xfrm>
          <a:prstGeom prst="rect">
            <a:avLst/>
          </a:prstGeom>
        </p:spPr>
      </p:pic>
      <p:sp>
        <p:nvSpPr>
          <p:cNvPr id="25" name="Rectangle 24"/>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0" y="6510528"/>
            <a:ext cx="4572000" cy="274320"/>
          </a:xfrm>
          <a:prstGeom prst="rect">
            <a:avLst/>
          </a:prstGeom>
          <a:noFill/>
        </p:spPr>
        <p:txBody>
          <a:bodyPr wrap="square">
            <a:spAutoFit/>
          </a:bodyPr>
          <a:lstStyle/>
          <a:p>
            <a:pPr algn="l">
              <a:defRPr sz="900" b="0">
                <a:solidFill>
                  <a:srgbClr val="94A3B8"/>
                </a:solidFill>
                <a:latin typeface="Calibri"/>
              </a:defRPr>
            </a:pPr>
            <a:r>
              <a:t>iAssetsPro — Maintenance Repairs Work Order Module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2926080" cy="6803136"/>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365760"/>
            <a:ext cx="2377440" cy="365760"/>
          </a:xfrm>
          <a:prstGeom prst="rect">
            <a:avLst/>
          </a:prstGeom>
          <a:noFill/>
        </p:spPr>
        <p:txBody>
          <a:bodyPr wrap="square">
            <a:spAutoFit/>
          </a:bodyPr>
          <a:lstStyle/>
          <a:p>
            <a:pPr algn="l">
              <a:defRPr sz="1000" b="1">
                <a:solidFill>
                  <a:srgbClr val="059669"/>
                </a:solidFill>
                <a:latin typeface="Calibri"/>
              </a:defRPr>
            </a:pPr>
            <a:r>
              <a:t>PHASE 1 · REQUEST &amp; APPROVAL</a:t>
            </a:r>
          </a:p>
        </p:txBody>
      </p:sp>
      <p:sp>
        <p:nvSpPr>
          <p:cNvPr id="5" name="TextBox 4"/>
          <p:cNvSpPr txBox="1"/>
          <p:nvPr/>
        </p:nvSpPr>
        <p:spPr>
          <a:xfrm>
            <a:off x="274320" y="822960"/>
            <a:ext cx="2377440" cy="731520"/>
          </a:xfrm>
          <a:prstGeom prst="rect">
            <a:avLst/>
          </a:prstGeom>
          <a:noFill/>
        </p:spPr>
        <p:txBody>
          <a:bodyPr wrap="square">
            <a:spAutoFit/>
          </a:bodyPr>
          <a:lstStyle/>
          <a:p>
            <a:pPr algn="l">
              <a:defRPr sz="3600" b="1">
                <a:solidFill>
                  <a:srgbClr val="FFFFFF"/>
                </a:solidFill>
                <a:latin typeface="Calibri"/>
              </a:defRPr>
            </a:pPr>
            <a:r>
              <a:t>Step 4</a:t>
            </a:r>
          </a:p>
        </p:txBody>
      </p:sp>
      <p:sp>
        <p:nvSpPr>
          <p:cNvPr id="6" name="TextBox 5"/>
          <p:cNvSpPr txBox="1"/>
          <p:nvPr/>
        </p:nvSpPr>
        <p:spPr>
          <a:xfrm>
            <a:off x="274320" y="1554480"/>
            <a:ext cx="2377440" cy="1097280"/>
          </a:xfrm>
          <a:prstGeom prst="rect">
            <a:avLst/>
          </a:prstGeom>
          <a:noFill/>
        </p:spPr>
        <p:txBody>
          <a:bodyPr wrap="square">
            <a:spAutoFit/>
          </a:bodyPr>
          <a:lstStyle/>
          <a:p>
            <a:pPr algn="l">
              <a:defRPr sz="2000" b="1">
                <a:solidFill>
                  <a:srgbClr val="FFFFFF"/>
                </a:solidFill>
                <a:latin typeface="Calibri"/>
              </a:defRPr>
            </a:pPr>
            <a:r>
              <a:t>Maintenance Request Detail</a:t>
            </a:r>
          </a:p>
        </p:txBody>
      </p:sp>
      <p:sp>
        <p:nvSpPr>
          <p:cNvPr id="7" name="TextBox 6"/>
          <p:cNvSpPr txBox="1"/>
          <p:nvPr/>
        </p:nvSpPr>
        <p:spPr>
          <a:xfrm>
            <a:off x="274320" y="2651760"/>
            <a:ext cx="2377440" cy="3200400"/>
          </a:xfrm>
          <a:prstGeom prst="rect">
            <a:avLst/>
          </a:prstGeom>
          <a:noFill/>
        </p:spPr>
        <p:txBody>
          <a:bodyPr wrap="square">
            <a:spAutoFit/>
          </a:bodyPr>
          <a:lstStyle/>
          <a:p>
            <a:pPr algn="l">
              <a:defRPr sz="1300" b="0">
                <a:solidFill>
                  <a:srgbClr val="94A3B8"/>
                </a:solidFill>
                <a:latin typeface="Calibri"/>
              </a:defRPr>
            </a:pPr>
            <a:r>
              <a:t>Each Maintenance Request has a detailed view showing the problem description, requested priority, affected asset/equipment, required trades, and the full approval chain with timestamps. Authorized users can approve, reject, or request more information.</a:t>
            </a:r>
          </a:p>
        </p:txBody>
      </p:sp>
      <p:sp>
        <p:nvSpPr>
          <p:cNvPr id="8" name="Oval 7"/>
          <p:cNvSpPr/>
          <p:nvPr/>
        </p:nvSpPr>
        <p:spPr>
          <a:xfrm>
            <a:off x="27432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7548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665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7824" y="6217920"/>
            <a:ext cx="109728" cy="109728"/>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7899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28016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48132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68249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8366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08483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28600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48716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68833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88950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09067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29184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05-mr-detail.png"/>
          <p:cNvPicPr>
            <a:picLocks noChangeAspect="1"/>
          </p:cNvPicPr>
          <p:nvPr/>
        </p:nvPicPr>
        <p:blipFill>
          <a:blip r:embed="rId2"/>
          <a:stretch>
            <a:fillRect/>
          </a:stretch>
        </p:blipFill>
        <p:spPr>
          <a:xfrm>
            <a:off x="3200400" y="457200"/>
            <a:ext cx="8595360" cy="5669280"/>
          </a:xfrm>
          <a:prstGeom prst="rect">
            <a:avLst/>
          </a:prstGeom>
        </p:spPr>
      </p:pic>
      <p:sp>
        <p:nvSpPr>
          <p:cNvPr id="25" name="Rectangle 24"/>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0" y="6510528"/>
            <a:ext cx="4572000" cy="274320"/>
          </a:xfrm>
          <a:prstGeom prst="rect">
            <a:avLst/>
          </a:prstGeom>
          <a:noFill/>
        </p:spPr>
        <p:txBody>
          <a:bodyPr wrap="square">
            <a:spAutoFit/>
          </a:bodyPr>
          <a:lstStyle/>
          <a:p>
            <a:pPr algn="l">
              <a:defRPr sz="900" b="0">
                <a:solidFill>
                  <a:srgbClr val="94A3B8"/>
                </a:solidFill>
                <a:latin typeface="Calibri"/>
              </a:defRPr>
            </a:pPr>
            <a:r>
              <a:t>iAssetsPro — Maintenance Repairs Work Order Module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2926080" cy="6803136"/>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365760"/>
            <a:ext cx="2377440" cy="365760"/>
          </a:xfrm>
          <a:prstGeom prst="rect">
            <a:avLst/>
          </a:prstGeom>
          <a:noFill/>
        </p:spPr>
        <p:txBody>
          <a:bodyPr wrap="square">
            <a:spAutoFit/>
          </a:bodyPr>
          <a:lstStyle/>
          <a:p>
            <a:pPr algn="l">
              <a:defRPr sz="1000" b="1">
                <a:solidFill>
                  <a:srgbClr val="059669"/>
                </a:solidFill>
                <a:latin typeface="Calibri"/>
              </a:defRPr>
            </a:pPr>
            <a:r>
              <a:t>PHASE 2 · WORK ORDER EXECUTION</a:t>
            </a:r>
          </a:p>
        </p:txBody>
      </p:sp>
      <p:sp>
        <p:nvSpPr>
          <p:cNvPr id="5" name="TextBox 4"/>
          <p:cNvSpPr txBox="1"/>
          <p:nvPr/>
        </p:nvSpPr>
        <p:spPr>
          <a:xfrm>
            <a:off x="274320" y="822960"/>
            <a:ext cx="2377440" cy="731520"/>
          </a:xfrm>
          <a:prstGeom prst="rect">
            <a:avLst/>
          </a:prstGeom>
          <a:noFill/>
        </p:spPr>
        <p:txBody>
          <a:bodyPr wrap="square">
            <a:spAutoFit/>
          </a:bodyPr>
          <a:lstStyle/>
          <a:p>
            <a:pPr algn="l">
              <a:defRPr sz="3600" b="1">
                <a:solidFill>
                  <a:srgbClr val="FFFFFF"/>
                </a:solidFill>
                <a:latin typeface="Calibri"/>
              </a:defRPr>
            </a:pPr>
            <a:r>
              <a:t>Step 5</a:t>
            </a:r>
          </a:p>
        </p:txBody>
      </p:sp>
      <p:sp>
        <p:nvSpPr>
          <p:cNvPr id="6" name="TextBox 5"/>
          <p:cNvSpPr txBox="1"/>
          <p:nvPr/>
        </p:nvSpPr>
        <p:spPr>
          <a:xfrm>
            <a:off x="274320" y="1554480"/>
            <a:ext cx="2377440" cy="1097280"/>
          </a:xfrm>
          <a:prstGeom prst="rect">
            <a:avLst/>
          </a:prstGeom>
          <a:noFill/>
        </p:spPr>
        <p:txBody>
          <a:bodyPr wrap="square">
            <a:spAutoFit/>
          </a:bodyPr>
          <a:lstStyle/>
          <a:p>
            <a:pPr algn="l">
              <a:defRPr sz="2000" b="1">
                <a:solidFill>
                  <a:srgbClr val="FFFFFF"/>
                </a:solidFill>
                <a:latin typeface="Calibri"/>
              </a:defRPr>
            </a:pPr>
            <a:r>
              <a:t>Work Orders List</a:t>
            </a:r>
          </a:p>
        </p:txBody>
      </p:sp>
      <p:sp>
        <p:nvSpPr>
          <p:cNvPr id="7" name="TextBox 6"/>
          <p:cNvSpPr txBox="1"/>
          <p:nvPr/>
        </p:nvSpPr>
        <p:spPr>
          <a:xfrm>
            <a:off x="274320" y="2651760"/>
            <a:ext cx="2377440" cy="3200400"/>
          </a:xfrm>
          <a:prstGeom prst="rect">
            <a:avLst/>
          </a:prstGeom>
          <a:noFill/>
        </p:spPr>
        <p:txBody>
          <a:bodyPr wrap="square">
            <a:spAutoFit/>
          </a:bodyPr>
          <a:lstStyle/>
          <a:p>
            <a:pPr algn="l">
              <a:defRPr sz="1300" b="0">
                <a:solidFill>
                  <a:srgbClr val="94A3B8"/>
                </a:solidFill>
                <a:latin typeface="Calibri"/>
              </a:defRPr>
            </a:pPr>
            <a:r>
              <a:t>Approved Maintenance Requests are converted into Work Orders. The WO list provides a comprehensive view of all work orders with status indicators, assigned technicians, due dates, and priority levels. Powerful filtering and search capabilities help users find specific orders.</a:t>
            </a:r>
          </a:p>
        </p:txBody>
      </p:sp>
      <p:sp>
        <p:nvSpPr>
          <p:cNvPr id="8" name="Oval 7"/>
          <p:cNvSpPr/>
          <p:nvPr/>
        </p:nvSpPr>
        <p:spPr>
          <a:xfrm>
            <a:off x="27432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7548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665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782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78992" y="6217920"/>
            <a:ext cx="109728" cy="109728"/>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28016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48132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68249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8366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08483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28600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48716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68833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88950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09067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29184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06-work-orders-list.png"/>
          <p:cNvPicPr>
            <a:picLocks noChangeAspect="1"/>
          </p:cNvPicPr>
          <p:nvPr/>
        </p:nvPicPr>
        <p:blipFill>
          <a:blip r:embed="rId2"/>
          <a:stretch>
            <a:fillRect/>
          </a:stretch>
        </p:blipFill>
        <p:spPr>
          <a:xfrm>
            <a:off x="3200400" y="457200"/>
            <a:ext cx="8595360" cy="5669280"/>
          </a:xfrm>
          <a:prstGeom prst="rect">
            <a:avLst/>
          </a:prstGeom>
        </p:spPr>
      </p:pic>
      <p:sp>
        <p:nvSpPr>
          <p:cNvPr id="25" name="Rectangle 24"/>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0" y="6510528"/>
            <a:ext cx="4572000" cy="274320"/>
          </a:xfrm>
          <a:prstGeom prst="rect">
            <a:avLst/>
          </a:prstGeom>
          <a:noFill/>
        </p:spPr>
        <p:txBody>
          <a:bodyPr wrap="square">
            <a:spAutoFit/>
          </a:bodyPr>
          <a:lstStyle/>
          <a:p>
            <a:pPr algn="l">
              <a:defRPr sz="900" b="0">
                <a:solidFill>
                  <a:srgbClr val="94A3B8"/>
                </a:solidFill>
                <a:latin typeface="Calibri"/>
              </a:defRPr>
            </a:pPr>
            <a:r>
              <a:t>iAssetsPro — Maintenance Repairs Work Order Module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2926080" cy="6803136"/>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365760"/>
            <a:ext cx="2377440" cy="365760"/>
          </a:xfrm>
          <a:prstGeom prst="rect">
            <a:avLst/>
          </a:prstGeom>
          <a:noFill/>
        </p:spPr>
        <p:txBody>
          <a:bodyPr wrap="square">
            <a:spAutoFit/>
          </a:bodyPr>
          <a:lstStyle/>
          <a:p>
            <a:pPr algn="l">
              <a:defRPr sz="1000" b="1">
                <a:solidFill>
                  <a:srgbClr val="059669"/>
                </a:solidFill>
                <a:latin typeface="Calibri"/>
              </a:defRPr>
            </a:pPr>
            <a:r>
              <a:t>PHASE 2 · WORK ORDER EXECUTION</a:t>
            </a:r>
          </a:p>
        </p:txBody>
      </p:sp>
      <p:sp>
        <p:nvSpPr>
          <p:cNvPr id="5" name="TextBox 4"/>
          <p:cNvSpPr txBox="1"/>
          <p:nvPr/>
        </p:nvSpPr>
        <p:spPr>
          <a:xfrm>
            <a:off x="274320" y="822960"/>
            <a:ext cx="2377440" cy="731520"/>
          </a:xfrm>
          <a:prstGeom prst="rect">
            <a:avLst/>
          </a:prstGeom>
          <a:noFill/>
        </p:spPr>
        <p:txBody>
          <a:bodyPr wrap="square">
            <a:spAutoFit/>
          </a:bodyPr>
          <a:lstStyle/>
          <a:p>
            <a:pPr algn="l">
              <a:defRPr sz="3600" b="1">
                <a:solidFill>
                  <a:srgbClr val="FFFFFF"/>
                </a:solidFill>
                <a:latin typeface="Calibri"/>
              </a:defRPr>
            </a:pPr>
            <a:r>
              <a:t>Step 6</a:t>
            </a:r>
          </a:p>
        </p:txBody>
      </p:sp>
      <p:sp>
        <p:nvSpPr>
          <p:cNvPr id="6" name="TextBox 5"/>
          <p:cNvSpPr txBox="1"/>
          <p:nvPr/>
        </p:nvSpPr>
        <p:spPr>
          <a:xfrm>
            <a:off x="274320" y="1554480"/>
            <a:ext cx="2377440" cy="1097280"/>
          </a:xfrm>
          <a:prstGeom prst="rect">
            <a:avLst/>
          </a:prstGeom>
          <a:noFill/>
        </p:spPr>
        <p:txBody>
          <a:bodyPr wrap="square">
            <a:spAutoFit/>
          </a:bodyPr>
          <a:lstStyle/>
          <a:p>
            <a:pPr algn="l">
              <a:defRPr sz="2000" b="1">
                <a:solidFill>
                  <a:srgbClr val="FFFFFF"/>
                </a:solidFill>
                <a:latin typeface="Calibri"/>
              </a:defRPr>
            </a:pPr>
            <a:r>
              <a:t>Work Order Detail</a:t>
            </a:r>
          </a:p>
        </p:txBody>
      </p:sp>
      <p:sp>
        <p:nvSpPr>
          <p:cNvPr id="7" name="TextBox 6"/>
          <p:cNvSpPr txBox="1"/>
          <p:nvPr/>
        </p:nvSpPr>
        <p:spPr>
          <a:xfrm>
            <a:off x="274320" y="2651760"/>
            <a:ext cx="2377440" cy="3200400"/>
          </a:xfrm>
          <a:prstGeom prst="rect">
            <a:avLst/>
          </a:prstGeom>
          <a:noFill/>
        </p:spPr>
        <p:txBody>
          <a:bodyPr wrap="square">
            <a:spAutoFit/>
          </a:bodyPr>
          <a:lstStyle/>
          <a:p>
            <a:pPr algn="l">
              <a:defRPr sz="1300" b="0">
                <a:solidFill>
                  <a:srgbClr val="94A3B8"/>
                </a:solidFill>
                <a:latin typeface="Calibri"/>
              </a:defRPr>
            </a:pPr>
            <a:r>
              <a:t>The Work Order detail page provides complete visibility into the work order lifecycle — including assigned technician, planned vs actual hours, task checklist, linked maintenance request, tool/material consumption, and all activity history with timestamps.</a:t>
            </a:r>
          </a:p>
        </p:txBody>
      </p:sp>
      <p:sp>
        <p:nvSpPr>
          <p:cNvPr id="8" name="Oval 7"/>
          <p:cNvSpPr/>
          <p:nvPr/>
        </p:nvSpPr>
        <p:spPr>
          <a:xfrm>
            <a:off x="27432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7548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665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782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7899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280160" y="6217920"/>
            <a:ext cx="109728" cy="109728"/>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48132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68249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8366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08483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28600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48716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68833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88950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09067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29184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07-wo-detail.png"/>
          <p:cNvPicPr>
            <a:picLocks noChangeAspect="1"/>
          </p:cNvPicPr>
          <p:nvPr/>
        </p:nvPicPr>
        <p:blipFill>
          <a:blip r:embed="rId2"/>
          <a:stretch>
            <a:fillRect/>
          </a:stretch>
        </p:blipFill>
        <p:spPr>
          <a:xfrm>
            <a:off x="3200400" y="457200"/>
            <a:ext cx="8595360" cy="5669280"/>
          </a:xfrm>
          <a:prstGeom prst="rect">
            <a:avLst/>
          </a:prstGeom>
        </p:spPr>
      </p:pic>
      <p:sp>
        <p:nvSpPr>
          <p:cNvPr id="25" name="Rectangle 24"/>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0" y="6510528"/>
            <a:ext cx="4572000" cy="274320"/>
          </a:xfrm>
          <a:prstGeom prst="rect">
            <a:avLst/>
          </a:prstGeom>
          <a:noFill/>
        </p:spPr>
        <p:txBody>
          <a:bodyPr wrap="square">
            <a:spAutoFit/>
          </a:bodyPr>
          <a:lstStyle/>
          <a:p>
            <a:pPr algn="l">
              <a:defRPr sz="900" b="0">
                <a:solidFill>
                  <a:srgbClr val="94A3B8"/>
                </a:solidFill>
                <a:latin typeface="Calibri"/>
              </a:defRPr>
            </a:pPr>
            <a:r>
              <a:t>iAssetsPro — Maintenance Repairs Work Order Module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2926080" cy="6803136"/>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365760"/>
            <a:ext cx="2377440" cy="365760"/>
          </a:xfrm>
          <a:prstGeom prst="rect">
            <a:avLst/>
          </a:prstGeom>
          <a:noFill/>
        </p:spPr>
        <p:txBody>
          <a:bodyPr wrap="square">
            <a:spAutoFit/>
          </a:bodyPr>
          <a:lstStyle/>
          <a:p>
            <a:pPr algn="l">
              <a:defRPr sz="1000" b="1">
                <a:solidFill>
                  <a:srgbClr val="059669"/>
                </a:solidFill>
                <a:latin typeface="Calibri"/>
              </a:defRPr>
            </a:pPr>
            <a:r>
              <a:t>PHASE 3 · REPAIR RESOURCES</a:t>
            </a:r>
          </a:p>
        </p:txBody>
      </p:sp>
      <p:sp>
        <p:nvSpPr>
          <p:cNvPr id="5" name="TextBox 4"/>
          <p:cNvSpPr txBox="1"/>
          <p:nvPr/>
        </p:nvSpPr>
        <p:spPr>
          <a:xfrm>
            <a:off x="274320" y="822960"/>
            <a:ext cx="2377440" cy="731520"/>
          </a:xfrm>
          <a:prstGeom prst="rect">
            <a:avLst/>
          </a:prstGeom>
          <a:noFill/>
        </p:spPr>
        <p:txBody>
          <a:bodyPr wrap="square">
            <a:spAutoFit/>
          </a:bodyPr>
          <a:lstStyle/>
          <a:p>
            <a:pPr algn="l">
              <a:defRPr sz="3600" b="1">
                <a:solidFill>
                  <a:srgbClr val="FFFFFF"/>
                </a:solidFill>
                <a:latin typeface="Calibri"/>
              </a:defRPr>
            </a:pPr>
            <a:r>
              <a:t>Step 7</a:t>
            </a:r>
          </a:p>
        </p:txBody>
      </p:sp>
      <p:sp>
        <p:nvSpPr>
          <p:cNvPr id="6" name="TextBox 5"/>
          <p:cNvSpPr txBox="1"/>
          <p:nvPr/>
        </p:nvSpPr>
        <p:spPr>
          <a:xfrm>
            <a:off x="274320" y="1554480"/>
            <a:ext cx="2377440" cy="1097280"/>
          </a:xfrm>
          <a:prstGeom prst="rect">
            <a:avLst/>
          </a:prstGeom>
          <a:noFill/>
        </p:spPr>
        <p:txBody>
          <a:bodyPr wrap="square">
            <a:spAutoFit/>
          </a:bodyPr>
          <a:lstStyle/>
          <a:p>
            <a:pPr algn="l">
              <a:defRPr sz="2000" b="1">
                <a:solidFill>
                  <a:srgbClr val="FFFFFF"/>
                </a:solidFill>
                <a:latin typeface="Calibri"/>
              </a:defRPr>
            </a:pPr>
            <a:r>
              <a:t>Tool Requests</a:t>
            </a:r>
          </a:p>
        </p:txBody>
      </p:sp>
      <p:sp>
        <p:nvSpPr>
          <p:cNvPr id="7" name="TextBox 6"/>
          <p:cNvSpPr txBox="1"/>
          <p:nvPr/>
        </p:nvSpPr>
        <p:spPr>
          <a:xfrm>
            <a:off x="274320" y="2651760"/>
            <a:ext cx="2377440" cy="3200400"/>
          </a:xfrm>
          <a:prstGeom prst="rect">
            <a:avLst/>
          </a:prstGeom>
          <a:noFill/>
        </p:spPr>
        <p:txBody>
          <a:bodyPr wrap="square">
            <a:spAutoFit/>
          </a:bodyPr>
          <a:lstStyle/>
          <a:p>
            <a:pPr algn="l">
              <a:defRPr sz="1300" b="0">
                <a:solidFill>
                  <a:srgbClr val="94A3B8"/>
                </a:solidFill>
                <a:latin typeface="Calibri"/>
              </a:defRPr>
            </a:pPr>
            <a:r>
              <a:t>Technicians can request tools needed for their assigned work orders. The Tool Requests module tracks each request's status — from submission through approval, issuance by the tool shop, and return. Full traceability of tool movements is maintained.</a:t>
            </a:r>
          </a:p>
        </p:txBody>
      </p:sp>
      <p:sp>
        <p:nvSpPr>
          <p:cNvPr id="8" name="Oval 7"/>
          <p:cNvSpPr/>
          <p:nvPr/>
        </p:nvSpPr>
        <p:spPr>
          <a:xfrm>
            <a:off x="27432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7548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665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782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7899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28016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481328" y="6217920"/>
            <a:ext cx="109728" cy="109728"/>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68249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8366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08483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28600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48716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68833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88950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09067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29184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08-tool-requests.png"/>
          <p:cNvPicPr>
            <a:picLocks noChangeAspect="1"/>
          </p:cNvPicPr>
          <p:nvPr/>
        </p:nvPicPr>
        <p:blipFill>
          <a:blip r:embed="rId2"/>
          <a:stretch>
            <a:fillRect/>
          </a:stretch>
        </p:blipFill>
        <p:spPr>
          <a:xfrm>
            <a:off x="3200400" y="457200"/>
            <a:ext cx="8595360" cy="5669280"/>
          </a:xfrm>
          <a:prstGeom prst="rect">
            <a:avLst/>
          </a:prstGeom>
        </p:spPr>
      </p:pic>
      <p:sp>
        <p:nvSpPr>
          <p:cNvPr id="25" name="Rectangle 24"/>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0" y="6510528"/>
            <a:ext cx="4572000" cy="274320"/>
          </a:xfrm>
          <a:prstGeom prst="rect">
            <a:avLst/>
          </a:prstGeom>
          <a:noFill/>
        </p:spPr>
        <p:txBody>
          <a:bodyPr wrap="square">
            <a:spAutoFit/>
          </a:bodyPr>
          <a:lstStyle/>
          <a:p>
            <a:pPr algn="l">
              <a:defRPr sz="900" b="0">
                <a:solidFill>
                  <a:srgbClr val="94A3B8"/>
                </a:solidFill>
                <a:latin typeface="Calibri"/>
              </a:defRPr>
            </a:pPr>
            <a:r>
              <a:t>iAssetsPro — Maintenance Repairs Work Order Module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2926080" cy="6803136"/>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365760"/>
            <a:ext cx="2377440" cy="365760"/>
          </a:xfrm>
          <a:prstGeom prst="rect">
            <a:avLst/>
          </a:prstGeom>
          <a:noFill/>
        </p:spPr>
        <p:txBody>
          <a:bodyPr wrap="square">
            <a:spAutoFit/>
          </a:bodyPr>
          <a:lstStyle/>
          <a:p>
            <a:pPr algn="l">
              <a:defRPr sz="1000" b="1">
                <a:solidFill>
                  <a:srgbClr val="059669"/>
                </a:solidFill>
                <a:latin typeface="Calibri"/>
              </a:defRPr>
            </a:pPr>
            <a:r>
              <a:t>PHASE 3 · REPAIR RESOURCES</a:t>
            </a:r>
          </a:p>
        </p:txBody>
      </p:sp>
      <p:sp>
        <p:nvSpPr>
          <p:cNvPr id="5" name="TextBox 4"/>
          <p:cNvSpPr txBox="1"/>
          <p:nvPr/>
        </p:nvSpPr>
        <p:spPr>
          <a:xfrm>
            <a:off x="274320" y="822960"/>
            <a:ext cx="2377440" cy="731520"/>
          </a:xfrm>
          <a:prstGeom prst="rect">
            <a:avLst/>
          </a:prstGeom>
          <a:noFill/>
        </p:spPr>
        <p:txBody>
          <a:bodyPr wrap="square">
            <a:spAutoFit/>
          </a:bodyPr>
          <a:lstStyle/>
          <a:p>
            <a:pPr algn="l">
              <a:defRPr sz="3600" b="1">
                <a:solidFill>
                  <a:srgbClr val="FFFFFF"/>
                </a:solidFill>
                <a:latin typeface="Calibri"/>
              </a:defRPr>
            </a:pPr>
            <a:r>
              <a:t>Step 8</a:t>
            </a:r>
          </a:p>
        </p:txBody>
      </p:sp>
      <p:sp>
        <p:nvSpPr>
          <p:cNvPr id="6" name="TextBox 5"/>
          <p:cNvSpPr txBox="1"/>
          <p:nvPr/>
        </p:nvSpPr>
        <p:spPr>
          <a:xfrm>
            <a:off x="274320" y="1554480"/>
            <a:ext cx="2377440" cy="1097280"/>
          </a:xfrm>
          <a:prstGeom prst="rect">
            <a:avLst/>
          </a:prstGeom>
          <a:noFill/>
        </p:spPr>
        <p:txBody>
          <a:bodyPr wrap="square">
            <a:spAutoFit/>
          </a:bodyPr>
          <a:lstStyle/>
          <a:p>
            <a:pPr algn="l">
              <a:defRPr sz="2000" b="1">
                <a:solidFill>
                  <a:srgbClr val="FFFFFF"/>
                </a:solidFill>
                <a:latin typeface="Calibri"/>
              </a:defRPr>
            </a:pPr>
            <a:r>
              <a:t>Material Requests</a:t>
            </a:r>
          </a:p>
        </p:txBody>
      </p:sp>
      <p:sp>
        <p:nvSpPr>
          <p:cNvPr id="7" name="TextBox 6"/>
          <p:cNvSpPr txBox="1"/>
          <p:nvPr/>
        </p:nvSpPr>
        <p:spPr>
          <a:xfrm>
            <a:off x="274320" y="2651760"/>
            <a:ext cx="2377440" cy="3200400"/>
          </a:xfrm>
          <a:prstGeom prst="rect">
            <a:avLst/>
          </a:prstGeom>
          <a:noFill/>
        </p:spPr>
        <p:txBody>
          <a:bodyPr wrap="square">
            <a:spAutoFit/>
          </a:bodyPr>
          <a:lstStyle/>
          <a:p>
            <a:pPr algn="l">
              <a:defRPr sz="1300" b="0">
                <a:solidFill>
                  <a:srgbClr val="94A3B8"/>
                </a:solidFill>
                <a:latin typeface="Calibri"/>
              </a:defRPr>
            </a:pPr>
            <a:r>
              <a:t>The Material Requests module handles spare parts and consumable requisitions for repair work. Requests flow from technician submission → supervisor approval → store keeper issuance → consumption tracking against the work order.</a:t>
            </a:r>
          </a:p>
        </p:txBody>
      </p:sp>
      <p:sp>
        <p:nvSpPr>
          <p:cNvPr id="8" name="Oval 7"/>
          <p:cNvSpPr/>
          <p:nvPr/>
        </p:nvSpPr>
        <p:spPr>
          <a:xfrm>
            <a:off x="27432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7548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665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782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7899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28016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48132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682496" y="6217920"/>
            <a:ext cx="109728" cy="109728"/>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8366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08483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28600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48716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68833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88950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09067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29184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09-material-requests.png"/>
          <p:cNvPicPr>
            <a:picLocks noChangeAspect="1"/>
          </p:cNvPicPr>
          <p:nvPr/>
        </p:nvPicPr>
        <p:blipFill>
          <a:blip r:embed="rId2"/>
          <a:stretch>
            <a:fillRect/>
          </a:stretch>
        </p:blipFill>
        <p:spPr>
          <a:xfrm>
            <a:off x="3200400" y="457200"/>
            <a:ext cx="8595360" cy="5669280"/>
          </a:xfrm>
          <a:prstGeom prst="rect">
            <a:avLst/>
          </a:prstGeom>
        </p:spPr>
      </p:pic>
      <p:sp>
        <p:nvSpPr>
          <p:cNvPr id="25" name="Rectangle 24"/>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0" y="6510528"/>
            <a:ext cx="4572000" cy="274320"/>
          </a:xfrm>
          <a:prstGeom prst="rect">
            <a:avLst/>
          </a:prstGeom>
          <a:noFill/>
        </p:spPr>
        <p:txBody>
          <a:bodyPr wrap="square">
            <a:spAutoFit/>
          </a:bodyPr>
          <a:lstStyle/>
          <a:p>
            <a:pPr algn="l">
              <a:defRPr sz="900" b="0">
                <a:solidFill>
                  <a:srgbClr val="94A3B8"/>
                </a:solidFill>
                <a:latin typeface="Calibri"/>
              </a:defRPr>
            </a:pPr>
            <a:r>
              <a:t>iAssetsPro — Maintenance Repairs Work Order Module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2926080" cy="6803136"/>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365760"/>
            <a:ext cx="2377440" cy="365760"/>
          </a:xfrm>
          <a:prstGeom prst="rect">
            <a:avLst/>
          </a:prstGeom>
          <a:noFill/>
        </p:spPr>
        <p:txBody>
          <a:bodyPr wrap="square">
            <a:spAutoFit/>
          </a:bodyPr>
          <a:lstStyle/>
          <a:p>
            <a:pPr algn="l">
              <a:defRPr sz="1000" b="1">
                <a:solidFill>
                  <a:srgbClr val="059669"/>
                </a:solidFill>
                <a:latin typeface="Calibri"/>
              </a:defRPr>
            </a:pPr>
            <a:r>
              <a:t>PHASE 3 · REPAIR RESOURCES</a:t>
            </a:r>
          </a:p>
        </p:txBody>
      </p:sp>
      <p:sp>
        <p:nvSpPr>
          <p:cNvPr id="5" name="TextBox 4"/>
          <p:cNvSpPr txBox="1"/>
          <p:nvPr/>
        </p:nvSpPr>
        <p:spPr>
          <a:xfrm>
            <a:off x="274320" y="822960"/>
            <a:ext cx="2377440" cy="731520"/>
          </a:xfrm>
          <a:prstGeom prst="rect">
            <a:avLst/>
          </a:prstGeom>
          <a:noFill/>
        </p:spPr>
        <p:txBody>
          <a:bodyPr wrap="square">
            <a:spAutoFit/>
          </a:bodyPr>
          <a:lstStyle/>
          <a:p>
            <a:pPr algn="l">
              <a:defRPr sz="3600" b="1">
                <a:solidFill>
                  <a:srgbClr val="FFFFFF"/>
                </a:solidFill>
                <a:latin typeface="Calibri"/>
              </a:defRPr>
            </a:pPr>
            <a:r>
              <a:t>Step 9</a:t>
            </a:r>
          </a:p>
        </p:txBody>
      </p:sp>
      <p:sp>
        <p:nvSpPr>
          <p:cNvPr id="6" name="TextBox 5"/>
          <p:cNvSpPr txBox="1"/>
          <p:nvPr/>
        </p:nvSpPr>
        <p:spPr>
          <a:xfrm>
            <a:off x="274320" y="1554480"/>
            <a:ext cx="2377440" cy="1097280"/>
          </a:xfrm>
          <a:prstGeom prst="rect">
            <a:avLst/>
          </a:prstGeom>
          <a:noFill/>
        </p:spPr>
        <p:txBody>
          <a:bodyPr wrap="square">
            <a:spAutoFit/>
          </a:bodyPr>
          <a:lstStyle/>
          <a:p>
            <a:pPr algn="l">
              <a:defRPr sz="2000" b="1">
                <a:solidFill>
                  <a:srgbClr val="FFFFFF"/>
                </a:solidFill>
                <a:latin typeface="Calibri"/>
              </a:defRPr>
            </a:pPr>
            <a:r>
              <a:t>Tool Transfers</a:t>
            </a:r>
          </a:p>
        </p:txBody>
      </p:sp>
      <p:sp>
        <p:nvSpPr>
          <p:cNvPr id="7" name="TextBox 6"/>
          <p:cNvSpPr txBox="1"/>
          <p:nvPr/>
        </p:nvSpPr>
        <p:spPr>
          <a:xfrm>
            <a:off x="274320" y="2651760"/>
            <a:ext cx="2377440" cy="3200400"/>
          </a:xfrm>
          <a:prstGeom prst="rect">
            <a:avLst/>
          </a:prstGeom>
          <a:noFill/>
        </p:spPr>
        <p:txBody>
          <a:bodyPr wrap="square">
            <a:spAutoFit/>
          </a:bodyPr>
          <a:lstStyle/>
          <a:p>
            <a:pPr algn="l">
              <a:defRPr sz="1300" b="0">
                <a:solidFill>
                  <a:srgbClr val="94A3B8"/>
                </a:solidFill>
                <a:latin typeface="Calibri"/>
              </a:defRPr>
            </a:pPr>
            <a:r>
              <a:t>Tools can be transferred between technicians or returned to the tool shop. The Tool Transfers module tracks the complete chain of custody — who held the tool, when it was transferred, and the current holder. Damaged tools are flagged for reporting.</a:t>
            </a:r>
          </a:p>
        </p:txBody>
      </p:sp>
      <p:sp>
        <p:nvSpPr>
          <p:cNvPr id="8" name="Oval 7"/>
          <p:cNvSpPr/>
          <p:nvPr/>
        </p:nvSpPr>
        <p:spPr>
          <a:xfrm>
            <a:off x="27432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7548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665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782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7899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28016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48132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68249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83664" y="6217920"/>
            <a:ext cx="109728" cy="109728"/>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08483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28600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48716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68833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88950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09067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29184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09-material-requests.png"/>
          <p:cNvPicPr>
            <a:picLocks noChangeAspect="1"/>
          </p:cNvPicPr>
          <p:nvPr/>
        </p:nvPicPr>
        <p:blipFill>
          <a:blip r:embed="rId2"/>
          <a:stretch>
            <a:fillRect/>
          </a:stretch>
        </p:blipFill>
        <p:spPr>
          <a:xfrm>
            <a:off x="3200400" y="457200"/>
            <a:ext cx="8595360" cy="5669280"/>
          </a:xfrm>
          <a:prstGeom prst="rect">
            <a:avLst/>
          </a:prstGeom>
        </p:spPr>
      </p:pic>
      <p:sp>
        <p:nvSpPr>
          <p:cNvPr id="25" name="Rectangle 24"/>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0" y="6510528"/>
            <a:ext cx="4572000" cy="274320"/>
          </a:xfrm>
          <a:prstGeom prst="rect">
            <a:avLst/>
          </a:prstGeom>
          <a:noFill/>
        </p:spPr>
        <p:txBody>
          <a:bodyPr wrap="square">
            <a:spAutoFit/>
          </a:bodyPr>
          <a:lstStyle/>
          <a:p>
            <a:pPr algn="l">
              <a:defRPr sz="900" b="0">
                <a:solidFill>
                  <a:srgbClr val="94A3B8"/>
                </a:solidFill>
                <a:latin typeface="Calibri"/>
              </a:defRPr>
            </a:pPr>
            <a:r>
              <a:t>iAssetsPro — Maintenance Repairs Work Order Module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2926080" cy="6803136"/>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365760"/>
            <a:ext cx="2377440" cy="365760"/>
          </a:xfrm>
          <a:prstGeom prst="rect">
            <a:avLst/>
          </a:prstGeom>
          <a:noFill/>
        </p:spPr>
        <p:txBody>
          <a:bodyPr wrap="square">
            <a:spAutoFit/>
          </a:bodyPr>
          <a:lstStyle/>
          <a:p>
            <a:pPr algn="l">
              <a:defRPr sz="1000" b="1">
                <a:solidFill>
                  <a:srgbClr val="059669"/>
                </a:solidFill>
                <a:latin typeface="Calibri"/>
              </a:defRPr>
            </a:pPr>
            <a:r>
              <a:t>PHASE 4 · COMPLETION &amp; REPORTING</a:t>
            </a:r>
          </a:p>
        </p:txBody>
      </p:sp>
      <p:sp>
        <p:nvSpPr>
          <p:cNvPr id="5" name="TextBox 4"/>
          <p:cNvSpPr txBox="1"/>
          <p:nvPr/>
        </p:nvSpPr>
        <p:spPr>
          <a:xfrm>
            <a:off x="274320" y="822960"/>
            <a:ext cx="2377440" cy="731520"/>
          </a:xfrm>
          <a:prstGeom prst="rect">
            <a:avLst/>
          </a:prstGeom>
          <a:noFill/>
        </p:spPr>
        <p:txBody>
          <a:bodyPr wrap="square">
            <a:spAutoFit/>
          </a:bodyPr>
          <a:lstStyle/>
          <a:p>
            <a:pPr algn="l">
              <a:defRPr sz="3600" b="1">
                <a:solidFill>
                  <a:srgbClr val="FFFFFF"/>
                </a:solidFill>
                <a:latin typeface="Calibri"/>
              </a:defRPr>
            </a:pPr>
            <a:r>
              <a:t>Step 10</a:t>
            </a:r>
          </a:p>
        </p:txBody>
      </p:sp>
      <p:sp>
        <p:nvSpPr>
          <p:cNvPr id="6" name="TextBox 5"/>
          <p:cNvSpPr txBox="1"/>
          <p:nvPr/>
        </p:nvSpPr>
        <p:spPr>
          <a:xfrm>
            <a:off x="274320" y="1554480"/>
            <a:ext cx="2377440" cy="1097280"/>
          </a:xfrm>
          <a:prstGeom prst="rect">
            <a:avLst/>
          </a:prstGeom>
          <a:noFill/>
        </p:spPr>
        <p:txBody>
          <a:bodyPr wrap="square">
            <a:spAutoFit/>
          </a:bodyPr>
          <a:lstStyle/>
          <a:p>
            <a:pPr algn="l">
              <a:defRPr sz="2000" b="1">
                <a:solidFill>
                  <a:srgbClr val="FFFFFF"/>
                </a:solidFill>
                <a:latin typeface="Calibri"/>
              </a:defRPr>
            </a:pPr>
            <a:r>
              <a:t>Completion &amp; Closure</a:t>
            </a:r>
          </a:p>
        </p:txBody>
      </p:sp>
      <p:sp>
        <p:nvSpPr>
          <p:cNvPr id="7" name="TextBox 6"/>
          <p:cNvSpPr txBox="1"/>
          <p:nvPr/>
        </p:nvSpPr>
        <p:spPr>
          <a:xfrm>
            <a:off x="274320" y="2651760"/>
            <a:ext cx="2377440" cy="3200400"/>
          </a:xfrm>
          <a:prstGeom prst="rect">
            <a:avLst/>
          </a:prstGeom>
          <a:noFill/>
        </p:spPr>
        <p:txBody>
          <a:bodyPr wrap="square">
            <a:spAutoFit/>
          </a:bodyPr>
          <a:lstStyle/>
          <a:p>
            <a:pPr algn="l">
              <a:defRPr sz="1300" b="0">
                <a:solidFill>
                  <a:srgbClr val="94A3B8"/>
                </a:solidFill>
                <a:latin typeface="Calibri"/>
              </a:defRPr>
            </a:pPr>
            <a:r>
              <a:t>The Completion &amp; Closure module allows technicians to mark work as complete with detailed findings, replaced parts, and time logs. Supervisors and planners review and formally close the work order, which then becomes locked and archived.</a:t>
            </a:r>
          </a:p>
        </p:txBody>
      </p:sp>
      <p:sp>
        <p:nvSpPr>
          <p:cNvPr id="8" name="Oval 7"/>
          <p:cNvSpPr/>
          <p:nvPr/>
        </p:nvSpPr>
        <p:spPr>
          <a:xfrm>
            <a:off x="27432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7548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665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782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7899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28016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48132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68249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8366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084832" y="6217920"/>
            <a:ext cx="109728" cy="109728"/>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28600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48716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68833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88950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09067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29184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11-completion-closure.png"/>
          <p:cNvPicPr>
            <a:picLocks noChangeAspect="1"/>
          </p:cNvPicPr>
          <p:nvPr/>
        </p:nvPicPr>
        <p:blipFill>
          <a:blip r:embed="rId2"/>
          <a:stretch>
            <a:fillRect/>
          </a:stretch>
        </p:blipFill>
        <p:spPr>
          <a:xfrm>
            <a:off x="3200400" y="457200"/>
            <a:ext cx="8595360" cy="5669280"/>
          </a:xfrm>
          <a:prstGeom prst="rect">
            <a:avLst/>
          </a:prstGeom>
        </p:spPr>
      </p:pic>
      <p:sp>
        <p:nvSpPr>
          <p:cNvPr id="25" name="Rectangle 24"/>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0" y="6510528"/>
            <a:ext cx="4572000" cy="274320"/>
          </a:xfrm>
          <a:prstGeom prst="rect">
            <a:avLst/>
          </a:prstGeom>
          <a:noFill/>
        </p:spPr>
        <p:txBody>
          <a:bodyPr wrap="square">
            <a:spAutoFit/>
          </a:bodyPr>
          <a:lstStyle/>
          <a:p>
            <a:pPr algn="l">
              <a:defRPr sz="900" b="0">
                <a:solidFill>
                  <a:srgbClr val="94A3B8"/>
                </a:solidFill>
                <a:latin typeface="Calibri"/>
              </a:defRPr>
            </a:pPr>
            <a:r>
              <a:t>iAssetsPro — Maintenance Repairs Work Order Module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2926080" cy="6803136"/>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365760"/>
            <a:ext cx="2377440" cy="365760"/>
          </a:xfrm>
          <a:prstGeom prst="rect">
            <a:avLst/>
          </a:prstGeom>
          <a:noFill/>
        </p:spPr>
        <p:txBody>
          <a:bodyPr wrap="square">
            <a:spAutoFit/>
          </a:bodyPr>
          <a:lstStyle/>
          <a:p>
            <a:pPr algn="l">
              <a:defRPr sz="1000" b="1">
                <a:solidFill>
                  <a:srgbClr val="059669"/>
                </a:solidFill>
                <a:latin typeface="Calibri"/>
              </a:defRPr>
            </a:pPr>
            <a:r>
              <a:t>PHASE 4 · COMPLETION &amp; REPORTING</a:t>
            </a:r>
          </a:p>
        </p:txBody>
      </p:sp>
      <p:sp>
        <p:nvSpPr>
          <p:cNvPr id="5" name="TextBox 4"/>
          <p:cNvSpPr txBox="1"/>
          <p:nvPr/>
        </p:nvSpPr>
        <p:spPr>
          <a:xfrm>
            <a:off x="274320" y="822960"/>
            <a:ext cx="2377440" cy="731520"/>
          </a:xfrm>
          <a:prstGeom prst="rect">
            <a:avLst/>
          </a:prstGeom>
          <a:noFill/>
        </p:spPr>
        <p:txBody>
          <a:bodyPr wrap="square">
            <a:spAutoFit/>
          </a:bodyPr>
          <a:lstStyle/>
          <a:p>
            <a:pPr algn="l">
              <a:defRPr sz="3600" b="1">
                <a:solidFill>
                  <a:srgbClr val="FFFFFF"/>
                </a:solidFill>
                <a:latin typeface="Calibri"/>
              </a:defRPr>
            </a:pPr>
            <a:r>
              <a:t>Step 11</a:t>
            </a:r>
          </a:p>
        </p:txBody>
      </p:sp>
      <p:sp>
        <p:nvSpPr>
          <p:cNvPr id="6" name="TextBox 5"/>
          <p:cNvSpPr txBox="1"/>
          <p:nvPr/>
        </p:nvSpPr>
        <p:spPr>
          <a:xfrm>
            <a:off x="274320" y="1554480"/>
            <a:ext cx="2377440" cy="1097280"/>
          </a:xfrm>
          <a:prstGeom prst="rect">
            <a:avLst/>
          </a:prstGeom>
          <a:noFill/>
        </p:spPr>
        <p:txBody>
          <a:bodyPr wrap="square">
            <a:spAutoFit/>
          </a:bodyPr>
          <a:lstStyle/>
          <a:p>
            <a:pPr algn="l">
              <a:defRPr sz="2000" b="1">
                <a:solidFill>
                  <a:srgbClr val="FFFFFF"/>
                </a:solidFill>
                <a:latin typeface="Calibri"/>
              </a:defRPr>
            </a:pPr>
            <a:r>
              <a:t>Repair Analytics</a:t>
            </a:r>
          </a:p>
        </p:txBody>
      </p:sp>
      <p:sp>
        <p:nvSpPr>
          <p:cNvPr id="7" name="TextBox 6"/>
          <p:cNvSpPr txBox="1"/>
          <p:nvPr/>
        </p:nvSpPr>
        <p:spPr>
          <a:xfrm>
            <a:off x="274320" y="2651760"/>
            <a:ext cx="2377440" cy="3200400"/>
          </a:xfrm>
          <a:prstGeom prst="rect">
            <a:avLst/>
          </a:prstGeom>
          <a:noFill/>
        </p:spPr>
        <p:txBody>
          <a:bodyPr wrap="square">
            <a:spAutoFit/>
          </a:bodyPr>
          <a:lstStyle/>
          <a:p>
            <a:pPr algn="l">
              <a:defRPr sz="1300" b="0">
                <a:solidFill>
                  <a:srgbClr val="94A3B8"/>
                </a:solidFill>
                <a:latin typeface="Calibri"/>
              </a:defRPr>
            </a:pPr>
            <a:r>
              <a:t>The Analytics dashboard provides real-time insights into repair operations — including WO completion rates, average resolution times, technician productivity, equipment reliability metrics, and trend analysis for proactive maintenance planning.</a:t>
            </a:r>
          </a:p>
        </p:txBody>
      </p:sp>
      <p:sp>
        <p:nvSpPr>
          <p:cNvPr id="8" name="Oval 7"/>
          <p:cNvSpPr/>
          <p:nvPr/>
        </p:nvSpPr>
        <p:spPr>
          <a:xfrm>
            <a:off x="27432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7548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665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782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7899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28016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48132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68249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8366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08483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286000" y="6217920"/>
            <a:ext cx="109728" cy="109728"/>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48716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68833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88950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09067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29184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12-repair-analytics.png"/>
          <p:cNvPicPr>
            <a:picLocks noChangeAspect="1"/>
          </p:cNvPicPr>
          <p:nvPr/>
        </p:nvPicPr>
        <p:blipFill>
          <a:blip r:embed="rId2"/>
          <a:stretch>
            <a:fillRect/>
          </a:stretch>
        </p:blipFill>
        <p:spPr>
          <a:xfrm>
            <a:off x="3200400" y="457200"/>
            <a:ext cx="8595360" cy="5669280"/>
          </a:xfrm>
          <a:prstGeom prst="rect">
            <a:avLst/>
          </a:prstGeom>
        </p:spPr>
      </p:pic>
      <p:sp>
        <p:nvSpPr>
          <p:cNvPr id="25" name="Rectangle 24"/>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0" y="6510528"/>
            <a:ext cx="4572000" cy="274320"/>
          </a:xfrm>
          <a:prstGeom prst="rect">
            <a:avLst/>
          </a:prstGeom>
          <a:noFill/>
        </p:spPr>
        <p:txBody>
          <a:bodyPr wrap="square">
            <a:spAutoFit/>
          </a:bodyPr>
          <a:lstStyle/>
          <a:p>
            <a:pPr algn="l">
              <a:defRPr sz="900" b="0">
                <a:solidFill>
                  <a:srgbClr val="94A3B8"/>
                </a:solidFill>
                <a:latin typeface="Calibri"/>
              </a:defRPr>
            </a:pPr>
            <a:r>
              <a:t>iAssetsPro — Maintenance Repairs Work Order Module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2926080" cy="6803136"/>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365760"/>
            <a:ext cx="2377440" cy="365760"/>
          </a:xfrm>
          <a:prstGeom prst="rect">
            <a:avLst/>
          </a:prstGeom>
          <a:noFill/>
        </p:spPr>
        <p:txBody>
          <a:bodyPr wrap="square">
            <a:spAutoFit/>
          </a:bodyPr>
          <a:lstStyle/>
          <a:p>
            <a:pPr algn="l">
              <a:defRPr sz="1000" b="1">
                <a:solidFill>
                  <a:srgbClr val="059669"/>
                </a:solidFill>
                <a:latin typeface="Calibri"/>
              </a:defRPr>
            </a:pPr>
            <a:r>
              <a:t>PHASE 4 · COMPLETION &amp; REPORTING</a:t>
            </a:r>
          </a:p>
        </p:txBody>
      </p:sp>
      <p:sp>
        <p:nvSpPr>
          <p:cNvPr id="5" name="TextBox 4"/>
          <p:cNvSpPr txBox="1"/>
          <p:nvPr/>
        </p:nvSpPr>
        <p:spPr>
          <a:xfrm>
            <a:off x="274320" y="822960"/>
            <a:ext cx="2377440" cy="731520"/>
          </a:xfrm>
          <a:prstGeom prst="rect">
            <a:avLst/>
          </a:prstGeom>
          <a:noFill/>
        </p:spPr>
        <p:txBody>
          <a:bodyPr wrap="square">
            <a:spAutoFit/>
          </a:bodyPr>
          <a:lstStyle/>
          <a:p>
            <a:pPr algn="l">
              <a:defRPr sz="3600" b="1">
                <a:solidFill>
                  <a:srgbClr val="FFFFFF"/>
                </a:solidFill>
                <a:latin typeface="Calibri"/>
              </a:defRPr>
            </a:pPr>
            <a:r>
              <a:t>Step 12</a:t>
            </a:r>
          </a:p>
        </p:txBody>
      </p:sp>
      <p:sp>
        <p:nvSpPr>
          <p:cNvPr id="6" name="TextBox 5"/>
          <p:cNvSpPr txBox="1"/>
          <p:nvPr/>
        </p:nvSpPr>
        <p:spPr>
          <a:xfrm>
            <a:off x="274320" y="1554480"/>
            <a:ext cx="2377440" cy="1097280"/>
          </a:xfrm>
          <a:prstGeom prst="rect">
            <a:avLst/>
          </a:prstGeom>
          <a:noFill/>
        </p:spPr>
        <p:txBody>
          <a:bodyPr wrap="square">
            <a:spAutoFit/>
          </a:bodyPr>
          <a:lstStyle/>
          <a:p>
            <a:pPr algn="l">
              <a:defRPr sz="2000" b="1">
                <a:solidFill>
                  <a:srgbClr val="FFFFFF"/>
                </a:solidFill>
                <a:latin typeface="Calibri"/>
              </a:defRPr>
            </a:pPr>
            <a:r>
              <a:t>Repair Reports</a:t>
            </a:r>
          </a:p>
        </p:txBody>
      </p:sp>
      <p:sp>
        <p:nvSpPr>
          <p:cNvPr id="7" name="TextBox 6"/>
          <p:cNvSpPr txBox="1"/>
          <p:nvPr/>
        </p:nvSpPr>
        <p:spPr>
          <a:xfrm>
            <a:off x="274320" y="2651760"/>
            <a:ext cx="2377440" cy="3200400"/>
          </a:xfrm>
          <a:prstGeom prst="rect">
            <a:avLst/>
          </a:prstGeom>
          <a:noFill/>
        </p:spPr>
        <p:txBody>
          <a:bodyPr wrap="square">
            <a:spAutoFit/>
          </a:bodyPr>
          <a:lstStyle/>
          <a:p>
            <a:pPr algn="l">
              <a:defRPr sz="1300" b="0">
                <a:solidFill>
                  <a:srgbClr val="94A3B8"/>
                </a:solidFill>
                <a:latin typeface="Calibri"/>
              </a:defRPr>
            </a:pPr>
            <a:r>
              <a:t>Comprehensive reporting module with multiple report types: by asset/machine, overview statistics, technician productivity, materials &amp; cost analysis, downtime impact, and detailed data exports to Excel, PDF, and print formats.</a:t>
            </a:r>
          </a:p>
        </p:txBody>
      </p:sp>
      <p:sp>
        <p:nvSpPr>
          <p:cNvPr id="8" name="Oval 7"/>
          <p:cNvSpPr/>
          <p:nvPr/>
        </p:nvSpPr>
        <p:spPr>
          <a:xfrm>
            <a:off x="27432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7548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665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782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7899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28016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48132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68249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8366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08483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28600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487168" y="6217920"/>
            <a:ext cx="109728" cy="109728"/>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68833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88950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09067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29184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13-repair-reports.png"/>
          <p:cNvPicPr>
            <a:picLocks noChangeAspect="1"/>
          </p:cNvPicPr>
          <p:nvPr/>
        </p:nvPicPr>
        <p:blipFill>
          <a:blip r:embed="rId2"/>
          <a:stretch>
            <a:fillRect/>
          </a:stretch>
        </p:blipFill>
        <p:spPr>
          <a:xfrm>
            <a:off x="3200400" y="457200"/>
            <a:ext cx="8595360" cy="5669280"/>
          </a:xfrm>
          <a:prstGeom prst="rect">
            <a:avLst/>
          </a:prstGeom>
        </p:spPr>
      </p:pic>
      <p:sp>
        <p:nvSpPr>
          <p:cNvPr id="25" name="Rectangle 24"/>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0" y="6510528"/>
            <a:ext cx="4572000" cy="274320"/>
          </a:xfrm>
          <a:prstGeom prst="rect">
            <a:avLst/>
          </a:prstGeom>
          <a:noFill/>
        </p:spPr>
        <p:txBody>
          <a:bodyPr wrap="square">
            <a:spAutoFit/>
          </a:bodyPr>
          <a:lstStyle/>
          <a:p>
            <a:pPr algn="l">
              <a:defRPr sz="900" b="0">
                <a:solidFill>
                  <a:srgbClr val="94A3B8"/>
                </a:solidFill>
                <a:latin typeface="Calibri"/>
              </a:defRPr>
            </a:pPr>
            <a:r>
              <a:t>iAssetsPro — Maintenance Repairs Work Order Module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2926080" cy="6803136"/>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365760"/>
            <a:ext cx="2377440" cy="365760"/>
          </a:xfrm>
          <a:prstGeom prst="rect">
            <a:avLst/>
          </a:prstGeom>
          <a:noFill/>
        </p:spPr>
        <p:txBody>
          <a:bodyPr wrap="square">
            <a:spAutoFit/>
          </a:bodyPr>
          <a:lstStyle/>
          <a:p>
            <a:pPr algn="l">
              <a:defRPr sz="1000" b="1">
                <a:solidFill>
                  <a:srgbClr val="059669"/>
                </a:solidFill>
                <a:latin typeface="Calibri"/>
              </a:defRPr>
            </a:pPr>
            <a:r>
              <a:t>PHASE 4 · COMPLETION &amp; REPORTING</a:t>
            </a:r>
          </a:p>
        </p:txBody>
      </p:sp>
      <p:sp>
        <p:nvSpPr>
          <p:cNvPr id="5" name="TextBox 4"/>
          <p:cNvSpPr txBox="1"/>
          <p:nvPr/>
        </p:nvSpPr>
        <p:spPr>
          <a:xfrm>
            <a:off x="274320" y="822960"/>
            <a:ext cx="2377440" cy="731520"/>
          </a:xfrm>
          <a:prstGeom prst="rect">
            <a:avLst/>
          </a:prstGeom>
          <a:noFill/>
        </p:spPr>
        <p:txBody>
          <a:bodyPr wrap="square">
            <a:spAutoFit/>
          </a:bodyPr>
          <a:lstStyle/>
          <a:p>
            <a:pPr algn="l">
              <a:defRPr sz="3600" b="1">
                <a:solidFill>
                  <a:srgbClr val="FFFFFF"/>
                </a:solidFill>
                <a:latin typeface="Calibri"/>
              </a:defRPr>
            </a:pPr>
            <a:r>
              <a:t>Step 13</a:t>
            </a:r>
          </a:p>
        </p:txBody>
      </p:sp>
      <p:sp>
        <p:nvSpPr>
          <p:cNvPr id="6" name="TextBox 5"/>
          <p:cNvSpPr txBox="1"/>
          <p:nvPr/>
        </p:nvSpPr>
        <p:spPr>
          <a:xfrm>
            <a:off x="274320" y="1554480"/>
            <a:ext cx="2377440" cy="1097280"/>
          </a:xfrm>
          <a:prstGeom prst="rect">
            <a:avLst/>
          </a:prstGeom>
          <a:noFill/>
        </p:spPr>
        <p:txBody>
          <a:bodyPr wrap="square">
            <a:spAutoFit/>
          </a:bodyPr>
          <a:lstStyle/>
          <a:p>
            <a:pPr algn="l">
              <a:defRPr sz="2000" b="1">
                <a:solidFill>
                  <a:srgbClr val="FFFFFF"/>
                </a:solidFill>
                <a:latin typeface="Calibri"/>
              </a:defRPr>
            </a:pPr>
            <a:r>
              <a:t>Downtime Tracking</a:t>
            </a:r>
          </a:p>
        </p:txBody>
      </p:sp>
      <p:sp>
        <p:nvSpPr>
          <p:cNvPr id="7" name="TextBox 6"/>
          <p:cNvSpPr txBox="1"/>
          <p:nvPr/>
        </p:nvSpPr>
        <p:spPr>
          <a:xfrm>
            <a:off x="274320" y="2651760"/>
            <a:ext cx="2377440" cy="3200400"/>
          </a:xfrm>
          <a:prstGeom prst="rect">
            <a:avLst/>
          </a:prstGeom>
          <a:noFill/>
        </p:spPr>
        <p:txBody>
          <a:bodyPr wrap="square">
            <a:spAutoFit/>
          </a:bodyPr>
          <a:lstStyle/>
          <a:p>
            <a:pPr algn="l">
              <a:defRPr sz="1300" b="0">
                <a:solidFill>
                  <a:srgbClr val="94A3B8"/>
                </a:solidFill>
                <a:latin typeface="Calibri"/>
              </a:defRPr>
            </a:pPr>
            <a:r>
              <a:t>Track and analyze equipment downtime events with impact level classification. The module records downtime duration, affected production lines, root causes, and correlates with maintenance activities for total cost of downtime analysis.</a:t>
            </a:r>
          </a:p>
        </p:txBody>
      </p:sp>
      <p:sp>
        <p:nvSpPr>
          <p:cNvPr id="8" name="Oval 7"/>
          <p:cNvSpPr/>
          <p:nvPr/>
        </p:nvSpPr>
        <p:spPr>
          <a:xfrm>
            <a:off x="27432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7548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665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782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7899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28016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48132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68249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8366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08483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28600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48716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688336" y="6217920"/>
            <a:ext cx="109728" cy="109728"/>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88950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09067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29184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14-downtime-tracking.png"/>
          <p:cNvPicPr>
            <a:picLocks noChangeAspect="1"/>
          </p:cNvPicPr>
          <p:nvPr/>
        </p:nvPicPr>
        <p:blipFill>
          <a:blip r:embed="rId2"/>
          <a:stretch>
            <a:fillRect/>
          </a:stretch>
        </p:blipFill>
        <p:spPr>
          <a:xfrm>
            <a:off x="3200400" y="457200"/>
            <a:ext cx="8595360" cy="5669280"/>
          </a:xfrm>
          <a:prstGeom prst="rect">
            <a:avLst/>
          </a:prstGeom>
        </p:spPr>
      </p:pic>
      <p:sp>
        <p:nvSpPr>
          <p:cNvPr id="25" name="Rectangle 24"/>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0" y="6510528"/>
            <a:ext cx="4572000" cy="274320"/>
          </a:xfrm>
          <a:prstGeom prst="rect">
            <a:avLst/>
          </a:prstGeom>
          <a:noFill/>
        </p:spPr>
        <p:txBody>
          <a:bodyPr wrap="square">
            <a:spAutoFit/>
          </a:bodyPr>
          <a:lstStyle/>
          <a:p>
            <a:pPr algn="l">
              <a:defRPr sz="900" b="0">
                <a:solidFill>
                  <a:srgbClr val="94A3B8"/>
                </a:solidFill>
                <a:latin typeface="Calibri"/>
              </a:defRPr>
            </a:pPr>
            <a:r>
              <a:t>iAssetsPro — Maintenance Repairs Work Order Module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2926080" cy="6803136"/>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365760"/>
            <a:ext cx="2377440" cy="365760"/>
          </a:xfrm>
          <a:prstGeom prst="rect">
            <a:avLst/>
          </a:prstGeom>
          <a:noFill/>
        </p:spPr>
        <p:txBody>
          <a:bodyPr wrap="square">
            <a:spAutoFit/>
          </a:bodyPr>
          <a:lstStyle/>
          <a:p>
            <a:pPr algn="l">
              <a:defRPr sz="1000" b="1">
                <a:solidFill>
                  <a:srgbClr val="059669"/>
                </a:solidFill>
                <a:latin typeface="Calibri"/>
              </a:defRPr>
            </a:pPr>
            <a:r>
              <a:t>PHASE 4 · COMPLETION &amp; REPORTING</a:t>
            </a:r>
          </a:p>
        </p:txBody>
      </p:sp>
      <p:sp>
        <p:nvSpPr>
          <p:cNvPr id="5" name="TextBox 4"/>
          <p:cNvSpPr txBox="1"/>
          <p:nvPr/>
        </p:nvSpPr>
        <p:spPr>
          <a:xfrm>
            <a:off x="274320" y="822960"/>
            <a:ext cx="2377440" cy="731520"/>
          </a:xfrm>
          <a:prstGeom prst="rect">
            <a:avLst/>
          </a:prstGeom>
          <a:noFill/>
        </p:spPr>
        <p:txBody>
          <a:bodyPr wrap="square">
            <a:spAutoFit/>
          </a:bodyPr>
          <a:lstStyle/>
          <a:p>
            <a:pPr algn="l">
              <a:defRPr sz="3600" b="1">
                <a:solidFill>
                  <a:srgbClr val="FFFFFF"/>
                </a:solidFill>
                <a:latin typeface="Calibri"/>
              </a:defRPr>
            </a:pPr>
            <a:r>
              <a:t>Step 14</a:t>
            </a:r>
          </a:p>
        </p:txBody>
      </p:sp>
      <p:sp>
        <p:nvSpPr>
          <p:cNvPr id="6" name="TextBox 5"/>
          <p:cNvSpPr txBox="1"/>
          <p:nvPr/>
        </p:nvSpPr>
        <p:spPr>
          <a:xfrm>
            <a:off x="274320" y="1554480"/>
            <a:ext cx="2377440" cy="1097280"/>
          </a:xfrm>
          <a:prstGeom prst="rect">
            <a:avLst/>
          </a:prstGeom>
          <a:noFill/>
        </p:spPr>
        <p:txBody>
          <a:bodyPr wrap="square">
            <a:spAutoFit/>
          </a:bodyPr>
          <a:lstStyle/>
          <a:p>
            <a:pPr algn="l">
              <a:defRPr sz="2000" b="1">
                <a:solidFill>
                  <a:srgbClr val="FFFFFF"/>
                </a:solidFill>
                <a:latin typeface="Calibri"/>
              </a:defRPr>
            </a:pPr>
            <a:r>
              <a:t>Spare Part Returns</a:t>
            </a:r>
          </a:p>
        </p:txBody>
      </p:sp>
      <p:sp>
        <p:nvSpPr>
          <p:cNvPr id="7" name="TextBox 6"/>
          <p:cNvSpPr txBox="1"/>
          <p:nvPr/>
        </p:nvSpPr>
        <p:spPr>
          <a:xfrm>
            <a:off x="274320" y="2651760"/>
            <a:ext cx="2377440" cy="3200400"/>
          </a:xfrm>
          <a:prstGeom prst="rect">
            <a:avLst/>
          </a:prstGeom>
          <a:noFill/>
        </p:spPr>
        <p:txBody>
          <a:bodyPr wrap="square">
            <a:spAutoFit/>
          </a:bodyPr>
          <a:lstStyle/>
          <a:p>
            <a:pPr algn="l">
              <a:defRPr sz="1300" b="0">
                <a:solidFill>
                  <a:srgbClr val="94A3B8"/>
                </a:solidFill>
                <a:latin typeface="Calibri"/>
              </a:defRPr>
            </a:pPr>
            <a:r>
              <a:t>Manage the return of unused spare parts and consumables after work order completion. Parts are inspected, restocked to inventory, and credited back to the original material request, maintaining accurate inventory levels.</a:t>
            </a:r>
          </a:p>
        </p:txBody>
      </p:sp>
      <p:sp>
        <p:nvSpPr>
          <p:cNvPr id="8" name="Oval 7"/>
          <p:cNvSpPr/>
          <p:nvPr/>
        </p:nvSpPr>
        <p:spPr>
          <a:xfrm>
            <a:off x="27432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7548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665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782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7899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28016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48132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68249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8366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08483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28600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48716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68833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889504" y="6217920"/>
            <a:ext cx="109728" cy="109728"/>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09067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29184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15-spare-part-returns.png"/>
          <p:cNvPicPr>
            <a:picLocks noChangeAspect="1"/>
          </p:cNvPicPr>
          <p:nvPr/>
        </p:nvPicPr>
        <p:blipFill>
          <a:blip r:embed="rId2"/>
          <a:stretch>
            <a:fillRect/>
          </a:stretch>
        </p:blipFill>
        <p:spPr>
          <a:xfrm>
            <a:off x="3200400" y="457200"/>
            <a:ext cx="8595360" cy="5669280"/>
          </a:xfrm>
          <a:prstGeom prst="rect">
            <a:avLst/>
          </a:prstGeom>
        </p:spPr>
      </p:pic>
      <p:sp>
        <p:nvSpPr>
          <p:cNvPr id="25" name="Rectangle 24"/>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0" y="6510528"/>
            <a:ext cx="4572000" cy="274320"/>
          </a:xfrm>
          <a:prstGeom prst="rect">
            <a:avLst/>
          </a:prstGeom>
          <a:noFill/>
        </p:spPr>
        <p:txBody>
          <a:bodyPr wrap="square">
            <a:spAutoFit/>
          </a:bodyPr>
          <a:lstStyle/>
          <a:p>
            <a:pPr algn="l">
              <a:defRPr sz="900" b="0">
                <a:solidFill>
                  <a:srgbClr val="94A3B8"/>
                </a:solidFill>
                <a:latin typeface="Calibri"/>
              </a:defRPr>
            </a:pPr>
            <a:r>
              <a:t>iAssetsPro — Maintenance Repairs Work Order Module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2926080" cy="6803136"/>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365760"/>
            <a:ext cx="2377440" cy="365760"/>
          </a:xfrm>
          <a:prstGeom prst="rect">
            <a:avLst/>
          </a:prstGeom>
          <a:noFill/>
        </p:spPr>
        <p:txBody>
          <a:bodyPr wrap="square">
            <a:spAutoFit/>
          </a:bodyPr>
          <a:lstStyle/>
          <a:p>
            <a:pPr algn="l">
              <a:defRPr sz="1000" b="1">
                <a:solidFill>
                  <a:srgbClr val="059669"/>
                </a:solidFill>
                <a:latin typeface="Calibri"/>
              </a:defRPr>
            </a:pPr>
            <a:r>
              <a:t>PHASE 4 · COMPLETION &amp; REPORTING</a:t>
            </a:r>
          </a:p>
        </p:txBody>
      </p:sp>
      <p:sp>
        <p:nvSpPr>
          <p:cNvPr id="5" name="TextBox 4"/>
          <p:cNvSpPr txBox="1"/>
          <p:nvPr/>
        </p:nvSpPr>
        <p:spPr>
          <a:xfrm>
            <a:off x="274320" y="822960"/>
            <a:ext cx="2377440" cy="731520"/>
          </a:xfrm>
          <a:prstGeom prst="rect">
            <a:avLst/>
          </a:prstGeom>
          <a:noFill/>
        </p:spPr>
        <p:txBody>
          <a:bodyPr wrap="square">
            <a:spAutoFit/>
          </a:bodyPr>
          <a:lstStyle/>
          <a:p>
            <a:pPr algn="l">
              <a:defRPr sz="3600" b="1">
                <a:solidFill>
                  <a:srgbClr val="FFFFFF"/>
                </a:solidFill>
                <a:latin typeface="Calibri"/>
              </a:defRPr>
            </a:pPr>
            <a:r>
              <a:t>Step 15</a:t>
            </a:r>
          </a:p>
        </p:txBody>
      </p:sp>
      <p:sp>
        <p:nvSpPr>
          <p:cNvPr id="6" name="TextBox 5"/>
          <p:cNvSpPr txBox="1"/>
          <p:nvPr/>
        </p:nvSpPr>
        <p:spPr>
          <a:xfrm>
            <a:off x="274320" y="1554480"/>
            <a:ext cx="2377440" cy="1097280"/>
          </a:xfrm>
          <a:prstGeom prst="rect">
            <a:avLst/>
          </a:prstGeom>
          <a:noFill/>
        </p:spPr>
        <p:txBody>
          <a:bodyPr wrap="square">
            <a:spAutoFit/>
          </a:bodyPr>
          <a:lstStyle/>
          <a:p>
            <a:pPr algn="l">
              <a:defRPr sz="2000" b="1">
                <a:solidFill>
                  <a:srgbClr val="FFFFFF"/>
                </a:solidFill>
                <a:latin typeface="Calibri"/>
              </a:defRPr>
            </a:pPr>
            <a:r>
              <a:t>Damaged Tool Reports</a:t>
            </a:r>
          </a:p>
        </p:txBody>
      </p:sp>
      <p:sp>
        <p:nvSpPr>
          <p:cNvPr id="7" name="TextBox 6"/>
          <p:cNvSpPr txBox="1"/>
          <p:nvPr/>
        </p:nvSpPr>
        <p:spPr>
          <a:xfrm>
            <a:off x="274320" y="2651760"/>
            <a:ext cx="2377440" cy="3200400"/>
          </a:xfrm>
          <a:prstGeom prst="rect">
            <a:avLst/>
          </a:prstGeom>
          <a:noFill/>
        </p:spPr>
        <p:txBody>
          <a:bodyPr wrap="square">
            <a:spAutoFit/>
          </a:bodyPr>
          <a:lstStyle/>
          <a:p>
            <a:pPr algn="l">
              <a:defRPr sz="1300" b="0">
                <a:solidFill>
                  <a:srgbClr val="94A3B8"/>
                </a:solidFill>
                <a:latin typeface="Calibri"/>
              </a:defRPr>
            </a:pPr>
            <a:r>
              <a:t>Document and track damaged or worn tools discovered during repair work. The system creates records for tool replacement, links damage to specific work orders, and helps maintenance management plan tool procurement and replacement cycles.</a:t>
            </a:r>
          </a:p>
        </p:txBody>
      </p:sp>
      <p:sp>
        <p:nvSpPr>
          <p:cNvPr id="8" name="Oval 7"/>
          <p:cNvSpPr/>
          <p:nvPr/>
        </p:nvSpPr>
        <p:spPr>
          <a:xfrm>
            <a:off x="27432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7548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665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782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7899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28016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48132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68249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8366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08483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28600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48716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68833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88950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090672" y="6217920"/>
            <a:ext cx="109728" cy="109728"/>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29184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16-damaged-tool-reports.png"/>
          <p:cNvPicPr>
            <a:picLocks noChangeAspect="1"/>
          </p:cNvPicPr>
          <p:nvPr/>
        </p:nvPicPr>
        <p:blipFill>
          <a:blip r:embed="rId2"/>
          <a:stretch>
            <a:fillRect/>
          </a:stretch>
        </p:blipFill>
        <p:spPr>
          <a:xfrm>
            <a:off x="3200400" y="457200"/>
            <a:ext cx="8595360" cy="5669280"/>
          </a:xfrm>
          <a:prstGeom prst="rect">
            <a:avLst/>
          </a:prstGeom>
        </p:spPr>
      </p:pic>
      <p:sp>
        <p:nvSpPr>
          <p:cNvPr id="25" name="Rectangle 24"/>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0" y="6510528"/>
            <a:ext cx="4572000" cy="274320"/>
          </a:xfrm>
          <a:prstGeom prst="rect">
            <a:avLst/>
          </a:prstGeom>
          <a:noFill/>
        </p:spPr>
        <p:txBody>
          <a:bodyPr wrap="square">
            <a:spAutoFit/>
          </a:bodyPr>
          <a:lstStyle/>
          <a:p>
            <a:pPr algn="l">
              <a:defRPr sz="900" b="0">
                <a:solidFill>
                  <a:srgbClr val="94A3B8"/>
                </a:solidFill>
                <a:latin typeface="Calibri"/>
              </a:defRPr>
            </a:pPr>
            <a:r>
              <a:t>iAssetsPro — Maintenance Repairs Work Order Module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2926080" cy="6803136"/>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365760"/>
            <a:ext cx="2377440" cy="365760"/>
          </a:xfrm>
          <a:prstGeom prst="rect">
            <a:avLst/>
          </a:prstGeom>
          <a:noFill/>
        </p:spPr>
        <p:txBody>
          <a:bodyPr wrap="square">
            <a:spAutoFit/>
          </a:bodyPr>
          <a:lstStyle/>
          <a:p>
            <a:pPr algn="l">
              <a:defRPr sz="1000" b="1">
                <a:solidFill>
                  <a:srgbClr val="059669"/>
                </a:solidFill>
                <a:latin typeface="Calibri"/>
              </a:defRPr>
            </a:pPr>
            <a:r>
              <a:t>PHASE 4 · COMPLETION &amp; REPORTING</a:t>
            </a:r>
          </a:p>
        </p:txBody>
      </p:sp>
      <p:sp>
        <p:nvSpPr>
          <p:cNvPr id="5" name="TextBox 4"/>
          <p:cNvSpPr txBox="1"/>
          <p:nvPr/>
        </p:nvSpPr>
        <p:spPr>
          <a:xfrm>
            <a:off x="274320" y="822960"/>
            <a:ext cx="2377440" cy="731520"/>
          </a:xfrm>
          <a:prstGeom prst="rect">
            <a:avLst/>
          </a:prstGeom>
          <a:noFill/>
        </p:spPr>
        <p:txBody>
          <a:bodyPr wrap="square">
            <a:spAutoFit/>
          </a:bodyPr>
          <a:lstStyle/>
          <a:p>
            <a:pPr algn="l">
              <a:defRPr sz="3600" b="1">
                <a:solidFill>
                  <a:srgbClr val="FFFFFF"/>
                </a:solidFill>
                <a:latin typeface="Calibri"/>
              </a:defRPr>
            </a:pPr>
            <a:r>
              <a:t>Step 16</a:t>
            </a:r>
          </a:p>
        </p:txBody>
      </p:sp>
      <p:sp>
        <p:nvSpPr>
          <p:cNvPr id="6" name="TextBox 5"/>
          <p:cNvSpPr txBox="1"/>
          <p:nvPr/>
        </p:nvSpPr>
        <p:spPr>
          <a:xfrm>
            <a:off x="274320" y="1554480"/>
            <a:ext cx="2377440" cy="1097280"/>
          </a:xfrm>
          <a:prstGeom prst="rect">
            <a:avLst/>
          </a:prstGeom>
          <a:noFill/>
        </p:spPr>
        <p:txBody>
          <a:bodyPr wrap="square">
            <a:spAutoFit/>
          </a:bodyPr>
          <a:lstStyle/>
          <a:p>
            <a:pPr algn="l">
              <a:defRPr sz="2000" b="1">
                <a:solidFill>
                  <a:srgbClr val="FFFFFF"/>
                </a:solidFill>
                <a:latin typeface="Calibri"/>
              </a:defRPr>
            </a:pPr>
            <a:r>
              <a:t>Maintenance Dashboard</a:t>
            </a:r>
          </a:p>
        </p:txBody>
      </p:sp>
      <p:sp>
        <p:nvSpPr>
          <p:cNvPr id="7" name="TextBox 6"/>
          <p:cNvSpPr txBox="1"/>
          <p:nvPr/>
        </p:nvSpPr>
        <p:spPr>
          <a:xfrm>
            <a:off x="274320" y="2651760"/>
            <a:ext cx="2377440" cy="3200400"/>
          </a:xfrm>
          <a:prstGeom prst="rect">
            <a:avLst/>
          </a:prstGeom>
          <a:noFill/>
        </p:spPr>
        <p:txBody>
          <a:bodyPr wrap="square">
            <a:spAutoFit/>
          </a:bodyPr>
          <a:lstStyle/>
          <a:p>
            <a:pPr algn="l">
              <a:defRPr sz="1300" b="0">
                <a:solidFill>
                  <a:srgbClr val="94A3B8"/>
                </a:solidFill>
                <a:latin typeface="Calibri"/>
              </a:defRPr>
            </a:pPr>
            <a:r>
              <a:t>The dedicated Maintenance Dashboard provides a holistic view of all maintenance operations — KPIs, pending actions, equipment health scores, PM compliance rates, and maintenance cost trends. It serves as the command center for maintenance management.</a:t>
            </a:r>
          </a:p>
        </p:txBody>
      </p:sp>
      <p:sp>
        <p:nvSpPr>
          <p:cNvPr id="8" name="Oval 7"/>
          <p:cNvSpPr/>
          <p:nvPr/>
        </p:nvSpPr>
        <p:spPr>
          <a:xfrm>
            <a:off x="27432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7548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665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782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7899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28016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48132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68249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8366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08483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286000"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487168"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688336"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889504"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090672" y="6217920"/>
            <a:ext cx="109728" cy="109728"/>
          </a:xfrm>
          <a:prstGeom prst="ellipse">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291840" y="6217920"/>
            <a:ext cx="109728" cy="109728"/>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17-maintenance-dashboard.png"/>
          <p:cNvPicPr>
            <a:picLocks noChangeAspect="1"/>
          </p:cNvPicPr>
          <p:nvPr/>
        </p:nvPicPr>
        <p:blipFill>
          <a:blip r:embed="rId2"/>
          <a:stretch>
            <a:fillRect/>
          </a:stretch>
        </p:blipFill>
        <p:spPr>
          <a:xfrm>
            <a:off x="3200400" y="457200"/>
            <a:ext cx="8595360" cy="5669280"/>
          </a:xfrm>
          <a:prstGeom prst="rect">
            <a:avLst/>
          </a:prstGeom>
        </p:spPr>
      </p:pic>
      <p:sp>
        <p:nvSpPr>
          <p:cNvPr id="25" name="Rectangle 24"/>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0" y="6510528"/>
            <a:ext cx="4572000" cy="274320"/>
          </a:xfrm>
          <a:prstGeom prst="rect">
            <a:avLst/>
          </a:prstGeom>
          <a:noFill/>
        </p:spPr>
        <p:txBody>
          <a:bodyPr wrap="square">
            <a:spAutoFit/>
          </a:bodyPr>
          <a:lstStyle/>
          <a:p>
            <a:pPr algn="l">
              <a:defRPr sz="900" b="0">
                <a:solidFill>
                  <a:srgbClr val="94A3B8"/>
                </a:solidFill>
                <a:latin typeface="Calibri"/>
              </a:defRPr>
            </a:pPr>
            <a:r>
              <a:t>iAssetsPro — Maintenance Repairs Work Order Module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560320"/>
            <a:ext cx="73152" cy="18288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377440"/>
            <a:ext cx="9144000" cy="457200"/>
          </a:xfrm>
          <a:prstGeom prst="rect">
            <a:avLst/>
          </a:prstGeom>
          <a:noFill/>
        </p:spPr>
        <p:txBody>
          <a:bodyPr wrap="square">
            <a:spAutoFit/>
          </a:bodyPr>
          <a:lstStyle/>
          <a:p>
            <a:pPr algn="l">
              <a:defRPr sz="1600" b="1">
                <a:solidFill>
                  <a:srgbClr val="059669"/>
                </a:solidFill>
                <a:latin typeface="Calibri"/>
              </a:defRPr>
            </a:pPr>
            <a:r>
              <a:t>iAssetsPro</a:t>
            </a:r>
          </a:p>
        </p:txBody>
      </p:sp>
      <p:sp>
        <p:nvSpPr>
          <p:cNvPr id="5" name="TextBox 4"/>
          <p:cNvSpPr txBox="1"/>
          <p:nvPr/>
        </p:nvSpPr>
        <p:spPr>
          <a:xfrm>
            <a:off x="1097280" y="3017520"/>
            <a:ext cx="9144000" cy="1097280"/>
          </a:xfrm>
          <a:prstGeom prst="rect">
            <a:avLst/>
          </a:prstGeom>
          <a:noFill/>
        </p:spPr>
        <p:txBody>
          <a:bodyPr wrap="square">
            <a:spAutoFit/>
          </a:bodyPr>
          <a:lstStyle/>
          <a:p>
            <a:pPr algn="l">
              <a:defRPr sz="4400" b="1">
                <a:solidFill>
                  <a:srgbClr val="FFFFFF"/>
                </a:solidFill>
                <a:latin typeface="Calibri"/>
              </a:defRPr>
            </a:pPr>
            <a:r>
              <a:t>Thank You</a:t>
            </a:r>
          </a:p>
        </p:txBody>
      </p:sp>
      <p:sp>
        <p:nvSpPr>
          <p:cNvPr id="6" name="TextBox 5"/>
          <p:cNvSpPr txBox="1"/>
          <p:nvPr/>
        </p:nvSpPr>
        <p:spPr>
          <a:xfrm>
            <a:off x="1097280" y="4206240"/>
            <a:ext cx="9144000" cy="548640"/>
          </a:xfrm>
          <a:prstGeom prst="rect">
            <a:avLst/>
          </a:prstGeom>
          <a:noFill/>
        </p:spPr>
        <p:txBody>
          <a:bodyPr wrap="square">
            <a:spAutoFit/>
          </a:bodyPr>
          <a:lstStyle/>
          <a:p>
            <a:pPr algn="l">
              <a:defRPr sz="1800" b="0">
                <a:solidFill>
                  <a:srgbClr val="F5A623"/>
                </a:solidFill>
                <a:latin typeface="Calibri"/>
              </a:defRPr>
            </a:pPr>
            <a:r>
              <a:t>Ready to transform your maintenance operations</a:t>
            </a:r>
          </a:p>
        </p:txBody>
      </p:sp>
      <p:sp>
        <p:nvSpPr>
          <p:cNvPr id="7" name="TextBox 6"/>
          <p:cNvSpPr txBox="1"/>
          <p:nvPr/>
        </p:nvSpPr>
        <p:spPr>
          <a:xfrm>
            <a:off x="1097280" y="4937760"/>
            <a:ext cx="9144000" cy="731520"/>
          </a:xfrm>
          <a:prstGeom prst="rect">
            <a:avLst/>
          </a:prstGeom>
          <a:noFill/>
        </p:spPr>
        <p:txBody>
          <a:bodyPr wrap="square">
            <a:spAutoFit/>
          </a:bodyPr>
          <a:lstStyle/>
          <a:p>
            <a:pPr algn="l">
              <a:defRPr sz="1200" b="0">
                <a:solidFill>
                  <a:srgbClr val="94A3B8"/>
                </a:solidFill>
                <a:latin typeface="Calibri"/>
              </a:defRPr>
            </a:pPr>
            <a:r>
              <a:t>Contact: info@iassetspro.com  |  www.lightworldtech.com</a:t>
            </a:r>
          </a:p>
        </p:txBody>
      </p:sp>
      <p:sp>
        <p:nvSpPr>
          <p:cNvPr id="8" name="Rectangle 7"/>
          <p:cNvSpPr/>
          <p:nvPr/>
        </p:nvSpPr>
        <p:spPr>
          <a:xfrm>
            <a:off x="0" y="6400800"/>
            <a:ext cx="12191695" cy="457200"/>
          </a:xfrm>
          <a:prstGeom prst="rect">
            <a:avLst/>
          </a:prstGeom>
          <a:solidFill>
            <a:srgbClr val="0A0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6446520"/>
            <a:ext cx="4572000" cy="274320"/>
          </a:xfrm>
          <a:prstGeom prst="rect">
            <a:avLst/>
          </a:prstGeom>
          <a:noFill/>
        </p:spPr>
        <p:txBody>
          <a:bodyPr wrap="square">
            <a:spAutoFit/>
          </a:bodyPr>
          <a:lstStyle/>
          <a:p>
            <a:pPr algn="l">
              <a:defRPr sz="1000" b="0">
                <a:solidFill>
                  <a:srgbClr val="94A3B8"/>
                </a:solidFill>
                <a:latin typeface="Calibri"/>
              </a:defRPr>
            </a:pPr>
            <a:r>
              <a:t>© 2025 Lightworld Technologies. All rights reserved.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