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0B981"/>
                </a:solidFill>
                <a:latin typeface="Calibri Light"/>
              </a:defRPr>
            </a:pPr>
            <a:r>
              <a:t>iAssetsPro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Maintenance Repairs — Work Order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From Operator Request to Completion &amp; Reporting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572000"/>
            <a:ext cx="18288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Enterprise Asset Management Platform  |  Lightworld Technology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End-to-End Workflow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How a maintenance request flows through the iAssetsPro system from creation to reporting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3291840"/>
          </a:xfrm>
          <a:prstGeom prst="roundRect">
            <a:avLst/>
          </a:prstGeom>
          <a:solidFill>
            <a:srgbClr val="1A233B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88720" y="16459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68880" y="3383280"/>
            <a:ext cx="274320" cy="182880"/>
          </a:xfrm>
          <a:prstGeom prst="rightArrow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  <a:latin typeface="Calibri"/>
              </a:defRPr>
            </a:pPr>
            <a:r>
              <a:t>Operator</a:t>
            </a:r>
            <a:br/>
            <a:r>
              <a:t>Creates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Calibri"/>
              </a:defRPr>
            </a:pPr>
            <a:r>
              <a:t>Operator identifies issue and submits</a:t>
            </a:r>
            <a:br/>
            <a:r>
              <a:t>maintenance request with details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828800"/>
            <a:ext cx="1920240" cy="3291840"/>
          </a:xfrm>
          <a:prstGeom prst="roundRect">
            <a:avLst/>
          </a:prstGeom>
          <a:solidFill>
            <a:srgbClr val="1A233B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83280" y="1645920"/>
            <a:ext cx="640080" cy="640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63440" y="3383280"/>
            <a:ext cx="274320" cy="182880"/>
          </a:xfrm>
          <a:prstGeom prst="rightArrow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4688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B6D4"/>
                </a:solidFill>
                <a:latin typeface="Calibri"/>
              </a:defRPr>
            </a:pPr>
            <a:r>
              <a:t>Supervisor</a:t>
            </a:r>
            <a:br/>
            <a:r>
              <a:t>Reviews &amp; Approves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2918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Calibri"/>
              </a:defRPr>
            </a:pPr>
            <a:r>
              <a:t>Supervisor triages, reviews priority,</a:t>
            </a:r>
            <a:br/>
            <a:r>
              <a:t>and approves the request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1828800"/>
            <a:ext cx="1920240" cy="3291840"/>
          </a:xfrm>
          <a:prstGeom prst="roundRect">
            <a:avLst/>
          </a:prstGeom>
          <a:solidFill>
            <a:srgbClr val="1A233B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77840" y="164592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58000" y="3383280"/>
            <a:ext cx="274320" cy="182880"/>
          </a:xfrm>
          <a:prstGeom prst="rightArrow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24688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B5CF6"/>
                </a:solidFill>
                <a:latin typeface="Calibri"/>
              </a:defRPr>
            </a:pPr>
            <a:r>
              <a:t>Planner</a:t>
            </a:r>
            <a:br/>
            <a:r>
              <a:t>Creates Work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2918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Calibri"/>
              </a:defRPr>
            </a:pPr>
            <a:r>
              <a:t>Maintenance planner converts approved</a:t>
            </a:r>
            <a:br/>
            <a:r>
              <a:t>request into an executable work order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1828800"/>
            <a:ext cx="1920240" cy="3291840"/>
          </a:xfrm>
          <a:prstGeom prst="roundRect">
            <a:avLst/>
          </a:prstGeom>
          <a:solidFill>
            <a:srgbClr val="1A233B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0" y="16459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2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52560" y="3383280"/>
            <a:ext cx="274320" cy="182880"/>
          </a:xfrm>
          <a:prstGeom prst="rightArrow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24688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Calibri"/>
              </a:defRPr>
            </a:pPr>
            <a:r>
              <a:t>Technician</a:t>
            </a:r>
            <a:br/>
            <a:r>
              <a:t>Executes WO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2918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Calibri"/>
              </a:defRPr>
            </a:pPr>
            <a:r>
              <a:t>Assigned technician requests tools/materials</a:t>
            </a:r>
            <a:br/>
            <a:r>
              <a:t>and performs the repair work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0" y="1828800"/>
            <a:ext cx="1920240" cy="3291840"/>
          </a:xfrm>
          <a:prstGeom prst="roundRect">
            <a:avLst/>
          </a:prstGeom>
          <a:solidFill>
            <a:srgbClr val="1A233B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66960" y="1645920"/>
            <a:ext cx="640080" cy="6400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2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24688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Supervisor</a:t>
            </a:r>
            <a:br/>
            <a:r>
              <a:t>Verifies &amp; Closes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32918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Calibri"/>
              </a:defRPr>
            </a:pPr>
            <a:r>
              <a:t>Work is verified, completion documented,</a:t>
            </a:r>
            <a:br/>
            <a:r>
              <a:t>and WO is closed with reporting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Login &amp;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Secure role-based access with demo accounts</a:t>
            </a:r>
          </a:p>
        </p:txBody>
      </p:sp>
      <p:pic>
        <p:nvPicPr>
          <p:cNvPr id="6" name="Picture 5" descr="00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Users log in with username/password credentials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Role-based access control (Operator, Supervisor, Admin, etc.)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Each role has specific permissions for the WO workflow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Demo accounts available for quick access to different roles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Dashboard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Central command center with real-time KPIs</a:t>
            </a:r>
          </a:p>
        </p:txBody>
      </p:sp>
      <p:pic>
        <p:nvPicPr>
          <p:cNvPr id="6" name="Picture 5" descr="02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Displays active Work Orders, pending requests, and overdue items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Quick actions: New Request, View WOs, Approvals, PM Schedules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Recent maintenance requests and work orders at a glance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Cross-module overview: PM Overdue, Assets at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Maintenance Requests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View, filter, and manage all maintenance requests</a:t>
            </a:r>
          </a:p>
        </p:txBody>
      </p:sp>
      <p:pic>
        <p:nvPicPr>
          <p:cNvPr id="6" name="Picture 5" descr="03-maintenance-requ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Comprehensive table with request #, title, priority, status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Filter by status (Pending, Approved, Converted) and priority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Shows requester name, associated asset, and date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Click any row to open the full request detail in a side panel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Create Maintenance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Operator initiates a new maintenance request</a:t>
            </a:r>
          </a:p>
        </p:txBody>
      </p:sp>
      <p:pic>
        <p:nvPicPr>
          <p:cNvPr id="6" name="Picture 5" descr="03-maintenance-requ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Title and detailed description of the issue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Machine/asset selection with search capability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Priority level (Low, Medium, High, Urgent)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Machine downtime status and request type selection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Work Orders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Track and manage all work orders across the organization</a:t>
            </a:r>
          </a:p>
        </p:txBody>
      </p:sp>
      <p:pic>
        <p:nvPicPr>
          <p:cNvPr id="6" name="Picture 5" descr="05-work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Work orders created from approved maintenance requests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Type classification: Breakdown, Corrective, Preventive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Status tracking: Assigned, In Progress, Completed, Closed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Assigned technician and creation date visibility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Work Order Execution &amp;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Detailed view with actions: Start Work, Complete WO</a:t>
            </a:r>
          </a:p>
        </p:txBody>
      </p:sp>
      <p:pic>
        <p:nvPicPr>
          <p:cNvPr id="6" name="Picture 5" descr="06-wo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Full WO detail in a slide-over panel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Action buttons: Start Work, Complete WO, Request Tools/Materials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Task checklist and time logging capabilities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Team member management and assistance requests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Repairs — Tool Requests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Request specialized tools needed for WO execution</a:t>
            </a:r>
          </a:p>
        </p:txBody>
      </p:sp>
      <p:pic>
        <p:nvPicPr>
          <p:cNvPr id="6" name="Picture 5" descr="07-tool-requ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Technicians request tools required for specific work orders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Linked to WO number for traceability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Request status tracking: Pending, Approved, Issued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Integration with tool room inventory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Repairs — Material Requests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Request spare parts and materials for repairs</a:t>
            </a:r>
          </a:p>
        </p:txBody>
      </p:sp>
      <p:pic>
        <p:nvPicPr>
          <p:cNvPr id="6" name="Picture 5" descr="08-material-requ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Spare parts and consumables requested against WOs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Material description, quantity, and unit specification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Approval workflow before issuance from stores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Full traceability from request to consumption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Repairs — Tool Transfers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Transfer tools between plants or departments</a:t>
            </a:r>
          </a:p>
        </p:txBody>
      </p:sp>
      <p:pic>
        <p:nvPicPr>
          <p:cNvPr id="6" name="Picture 5" descr="09-tool-transf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Inter-plant and inter-department tool transfers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Transfer tracking with sender and receiver details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Ensures tools are available at the right location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Complete audit trail for tool movement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Repairs — WO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Complete work orders with final documentation</a:t>
            </a:r>
          </a:p>
        </p:txBody>
      </p:sp>
      <p:pic>
        <p:nvPicPr>
          <p:cNvPr id="6" name="Picture 5" descr="10-com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Mark work orders as completed after finishing repairs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Document actual work performed and time spent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Record parts used and tools consumed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Trigger verification and closure workflow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Repairs — Analytics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Data-driven insights into maintenance performance</a:t>
            </a:r>
          </a:p>
        </p:txBody>
      </p:sp>
      <p:pic>
        <p:nvPicPr>
          <p:cNvPr id="6" name="Picture 5" descr="11-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Visual charts and KPIs for repair operations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Work order completion rates and turnaround times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Technician productivity and resource utilization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Trend analysis for proactive maintenance planning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Repairs —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Generate and export comprehensive reports</a:t>
            </a:r>
          </a:p>
        </p:txBody>
      </p:sp>
      <p:pic>
        <p:nvPicPr>
          <p:cNvPr id="6" name="Picture 5" descr="12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Pre-built report templates for common needs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Customizable date ranges and filter criteria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Export to PDF and Excel formats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Scheduled report generation and distribution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Repairs — Downtime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Track and analyze equipment downtime events</a:t>
            </a:r>
          </a:p>
        </p:txBody>
      </p:sp>
      <p:pic>
        <p:nvPicPr>
          <p:cNvPr id="6" name="Picture 5" descr="13-dow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Log downtime events linked to maintenance activities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Duration tracking and root cause categorization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Impact analysis on production output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Downtime trends and reduction strategies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Repairs — Spare Part Returns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Manage return of unused spare parts</a:t>
            </a:r>
          </a:p>
        </p:txBody>
      </p:sp>
      <p:pic>
        <p:nvPicPr>
          <p:cNvPr id="6" name="Picture 5" descr="14-spare-part-re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Return unused parts from completed work orders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Quality inspection on returned items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Restock to inventory with condition tracking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Cost recovery and waste reduction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4546600" y="1254760"/>
            <a:ext cx="7183120" cy="4988560"/>
          </a:xfrm>
          <a:prstGeom prst="roundRect">
            <a:avLst/>
          </a:prstGeom>
          <a:noFill/>
          <a:ln w="254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640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Repairs — Damaged Tool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731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B6D4"/>
                </a:solidFill>
                <a:latin typeface="Calibri"/>
              </a:defRPr>
            </a:pPr>
            <a:r>
              <a:t>Report and track damaged or worn-out tools</a:t>
            </a:r>
          </a:p>
        </p:txBody>
      </p:sp>
      <p:pic>
        <p:nvPicPr>
          <p:cNvPr id="6" name="Picture 5" descr="15-damaged-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7132320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2654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Report tools damaged during repair operations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3238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Damage classification and severity assessment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3822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Replacement request initiation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44060"/>
            <a:ext cx="101600" cy="101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Vendor warranty claim support documentation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 Light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0B981"/>
                </a:solidFill>
                <a:latin typeface="Calibri"/>
              </a:defRPr>
            </a:pPr>
            <a:r>
              <a:t>iAssetsPro — Intelligent Asset Management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657600"/>
            <a:ext cx="1828800" cy="36576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023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BD5E1"/>
                </a:solidFill>
                <a:latin typeface="Calibri"/>
              </a:defRPr>
            </a:pPr>
            <a:r>
              <a:t>Lightworld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572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6B6D4"/>
                </a:solidFill>
                <a:latin typeface="Calibri"/>
              </a:defRPr>
            </a:pPr>
            <a:r>
              <a:t>https://iassetspro.lightworldtech.com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iAssetsPro — Enterprise Asset Management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